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notesMasterIdLst>
    <p:notesMasterId r:id="rId8"/>
  </p:notesMaster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customXml" Target="../customXml/item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1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选题A</c:v>
                </c:pt>
              </c:strCache>
            </c:strRef>
          </c:tx>
          <c:spPr>
            <a:solidFill>
              <a:srgbClr val="1B3A5F"/>
            </a:solidFill>
            <a:ln w="19050">
              <a:solidFill>
                <a:srgbClr val="1B3A5F"/>
              </a:solidFill>
            </a:ln>
          </c:spPr>
          <c:dLbls>
            <c:spPr>
              <a:noFill/>
              <a:ln>
                <a:noFill/>
              </a:ln>
              <a:effectLst/>
            </c:spPr>
            <c:txPr>
              <a:bodyPr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40">
                    <a:latin typeface="QuattrocentoSans"/>
                    <a:ea typeface="MiSans"/>
                  </a:defRPr>
                </a:pPr>
                <a:endParaRPr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>研究热度</c:v>
                </c:pt>
                <c:pt idx="1">
                  <c:v>创新空间</c:v>
                </c:pt>
                <c:pt idx="2">
                  <c:v>数据可得</c:v>
                </c:pt>
                <c:pt idx="3">
                  <c:v>实践价值</c:v>
                </c:pt>
                <c:pt idx="4">
                  <c:v>方法成熟度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85</c:v>
                </c:pt>
                <c:pt idx="1">
                  <c:v>78</c:v>
                </c:pt>
                <c:pt idx="2">
                  <c:v>90</c:v>
                </c:pt>
                <c:pt idx="3">
                  <c:v>82</c:v>
                </c:pt>
                <c:pt idx="4">
                  <c:v>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选题B</c:v>
                </c:pt>
              </c:strCache>
            </c:strRef>
          </c:tx>
          <c:spPr>
            <a:solidFill>
              <a:srgbClr val="D4A843"/>
            </a:solidFill>
            <a:ln w="19050">
              <a:solidFill>
                <a:srgbClr val="D4A843"/>
              </a:solidFill>
            </a:ln>
          </c:spPr>
          <c:dLbls>
            <c:spPr>
              <a:noFill/>
              <a:ln>
                <a:noFill/>
              </a:ln>
              <a:effectLst/>
            </c:spPr>
            <c:txPr>
              <a:bodyPr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40">
                    <a:latin typeface="QuattrocentoSans"/>
                    <a:ea typeface="MiSans"/>
                  </a:defRPr>
                </a:pPr>
                <a:endParaRPr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>研究热度</c:v>
                </c:pt>
                <c:pt idx="1">
                  <c:v>创新空间</c:v>
                </c:pt>
                <c:pt idx="2">
                  <c:v>数据可得</c:v>
                </c:pt>
                <c:pt idx="3">
                  <c:v>实践价值</c:v>
                </c:pt>
                <c:pt idx="4">
                  <c:v>方法成熟度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70</c:v>
                </c:pt>
                <c:pt idx="1">
                  <c:v>85</c:v>
                </c:pt>
                <c:pt idx="2">
                  <c:v>65</c:v>
                </c:pt>
                <c:pt idx="3">
                  <c:v>80</c:v>
                </c:pt>
                <c:pt idx="4">
                  <c:v>75</c:v>
                </c:pt>
              </c:numCache>
            </c:numRef>
          </c:val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numFmt formatCode="m/d/yy" sourceLinked="1"/>
        <c:majorTickMark val="out"/>
        <c:minorTickMark val="none"/>
        <c:tickLblPos val="nextTo"/>
        <c:spPr>
          <a:ln>
            <a:solidFill>
              <a:srgbClr val="54555A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952">
                <a:solidFill>
                  <a:srgbClr val="54555A"/>
                </a:solidFill>
                <a:latin typeface="QuattrocentoSans"/>
                <a:ea typeface="MiSans"/>
              </a:defRPr>
            </a:pPr>
          </a:p>
        </c:txPr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>
          <c:spPr>
            <a:ln>
              <a:solidFill>
                <a:srgbClr val="DBDEE4"/>
              </a:solidFill>
            </a:ln>
          </c:spPr>
        </c:majorGridlines>
        <c:numFmt formatCode="General" sourceLinked="1"/>
        <c:majorTickMark val="cross"/>
        <c:minorTickMark val="none"/>
        <c:tickLblPos val="nextTo"/>
        <c:spPr>
          <a:ln>
            <a:solidFill>
              <a:srgbClr val="54555A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952">
                <a:solidFill>
                  <a:srgbClr val="54555A"/>
                </a:solidFill>
                <a:latin typeface="QuattrocentoSans"/>
                <a:ea typeface="MiSans"/>
              </a:defRPr>
            </a:pPr>
          </a:p>
        </c:txPr>
        <c:crossAx val="2073612648"/>
        <c:crosses val="autoZero"/>
        <c:crossBetween val="between"/>
        <c:majorUnit val="50"/>
      </c:valAx>
    </c:plotArea>
    <c:legend>
      <c:legendPos val="b"/>
      <c:overlay val="0"/>
      <c:txPr>
        <a:bodyPr spcFirstLastPara="1" vertOverflow="ellipsis" vert="horz" wrap="square" lIns="38100" tIns="19050" rIns="38100" bIns="19050" anchor="ctr" anchorCtr="1">
          <a:spAutoFit/>
        </a:bodyPr>
        <a:lstStyle/>
        <a:p>
          <a:pPr>
            <a:defRPr sz="900">
              <a:solidFill>
                <a:srgbClr val="6D6E73"/>
              </a:solidFill>
              <a:latin typeface="QuattrocentoSans"/>
              <a:ea typeface="MiSans"/>
            </a:defRPr>
          </a:pPr>
        </a:p>
      </c:txPr>
    </c:legend>
    <c:plotVisOnly val="1"/>
    <c:dispBlanksAs val="gap"/>
    <c:showDLblsOverMax val="0"/>
  </c:chart>
  <c:txPr>
    <a:bodyPr spcFirstLastPara="1" vertOverflow="ellipsis" vert="horz" wrap="square" lIns="38100" tIns="19050" rIns="38100" bIns="19050" anchor="ctr" anchorCtr="1">
      <a:spAutoFit/>
    </a:bodyPr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可视化类型</c:v>
                </c:pt>
              </c:strCache>
            </c:strRef>
          </c:tx>
          <c:spPr>
            <a:solidFill>
              <a:srgbClr val="1B3A5F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>
                    <a:latin typeface="QuattrocentoSans"/>
                    <a:ea typeface="MiSans"/>
                  </a:defRPr>
                </a:pPr>
                <a:endParaRPr/>
              </a:p>
            </c:txPr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词云</c:v>
                </c:pt>
                <c:pt idx="1">
                  <c:v>引文分析</c:v>
                </c:pt>
                <c:pt idx="2">
                  <c:v>关键词网络</c:v>
                </c:pt>
                <c:pt idx="3">
                  <c:v>研究热点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val>
        </c:ser>
        <c:axId val="-2068027336"/>
        <c:axId val="-2113994440"/>
        <c:dLbls>
          <c:showLegendKey val="0"/>
          <c:showVal val="1"/>
          <c:showCatName val="0"/>
          <c:showSerName val="0"/>
          <c:showPercent val="0"/>
          <c:showBubbleSize val="0"/>
        </c:dLbls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54555A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816">
                <a:solidFill>
                  <a:srgbClr val="54555A"/>
                </a:solidFill>
                <a:latin typeface="QuattrocentoSans"/>
                <a:ea typeface="MiSa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1"/>
        <c:axPos val="l"/>
        <c:majorGridlines>
          <c:spPr>
            <a:ln>
              <a:solidFill>
                <a:srgbClr val="DBDEE4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54555A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816">
                <a:solidFill>
                  <a:srgbClr val="54555A"/>
                </a:solidFill>
                <a:latin typeface="QuattrocentoSans"/>
                <a:ea typeface="MiSans"/>
              </a:defRPr>
            </a:pPr>
          </a:p>
        </c:txPr>
        <c:crossAx val="-2068027336"/>
        <c:crosses val="autoZero"/>
      </c:valAx>
    </c:plotArea>
    <c:dispBlanksAs val="gap"/>
  </c:chart>
  <c:txPr>
    <a:bodyPr spcFirstLastPara="1" vertOverflow="ellipsis" vert="horz" wrap="square" lIns="38100" tIns="19050" rIns="38100" bIns="19050" anchor="ctr" anchorCtr="1">
      <a:spAutoFit/>
    </a:bodyPr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&lt;!--pageType:cover--&gt;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&lt;!--pageType:table_of_contents--&gt;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&lt;!--pageType:final--&gt;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chart" Target="../charts/chart1.xml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chart" Target="../charts/chart2.xml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2744"/>
            </a:gs>
            <a:gs pos="100000">
              <a:srgbClr val="1B3A5F"/>
            </a:gs>
          </a:gsLst>
          <a:lin scaled="1" ang="810000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dsl:deco-line-top"/>
          <p:cNvCxnSpPr/>
          <p:nvPr/>
        </p:nvCxnSpPr>
        <p:spPr>
          <a:xfrm>
            <a:off x="3238500" y="1905000"/>
            <a:ext cx="5715000" cy="0"/>
          </a:xfrm>
          <a:prstGeom prst="straightConnector1">
            <a:avLst/>
          </a:prstGeom>
          <a:ln w="12700">
            <a:solidFill>
              <a:srgbClr val="4A6D8C">
                <a:alpha val="25098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sl:cover-label|s=$caption"/>
          <p:cNvSpPr txBox="1"/>
          <p:nvPr/>
        </p:nvSpPr>
        <p:spPr>
          <a:xfrm>
            <a:off x="2286000" y="2190750"/>
            <a:ext cx="762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200" noProof="1">
                <a:solidFill>
                  <a:srgbClr val="D4A843"/>
                </a:solidFill>
                <a:latin typeface="QuattrocentoSans"/>
                <a:ea typeface="MiSans"/>
              </a:rPr>
              <a:t>人工智能综合项目开发 · 期末答辩</a:t>
            </a:r>
          </a:p>
        </p:txBody>
      </p:sp>
      <p:sp>
        <p:nvSpPr>
          <p:cNvPr id="4" name="dsl:cover-title|s=$title"/>
          <p:cNvSpPr txBox="1"/>
          <p:nvPr/>
        </p:nvSpPr>
        <p:spPr>
          <a:xfrm>
            <a:off x="1333500" y="2571750"/>
            <a:ext cx="9525000" cy="14287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3600" noProof="1" spc="150">
                <a:solidFill>
                  <a:srgbClr val="FFFFFF"/>
                </a:solidFill>
                <a:latin typeface="QuattrocentoSans"/>
                <a:ea typeface="MiSans"/>
              </a:rPr>
              <a:t>课程论文智能写作</a:t>
            </a:r>
          </a:p>
          <a:p>
            <a:pPr algn="ctr">
              <a:lnSpc>
                <a:spcPct val="120000"/>
              </a:lnSpc>
            </a:pPr>
            <a:r>
              <a:rPr sz="3600" noProof="1" spc="150">
                <a:solidFill>
                  <a:srgbClr val="FFFFFF"/>
                </a:solidFill>
                <a:latin typeface="QuattrocentoSans"/>
                <a:ea typeface="MiSans"/>
              </a:rPr>
              <a:t>与润色系统</a:t>
            </a:r>
          </a:p>
        </p:txBody>
      </p:sp>
      <p:sp>
        <p:nvSpPr>
          <p:cNvPr id="5" name="dsl:accent-bar"/>
          <p:cNvSpPr/>
          <p:nvPr/>
        </p:nvSpPr>
        <p:spPr>
          <a:xfrm>
            <a:off x="5143500" y="4000500"/>
            <a:ext cx="1905000" cy="38100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cover-subtitle|s=$subtitle"/>
          <p:cNvSpPr txBox="1"/>
          <p:nvPr/>
        </p:nvSpPr>
        <p:spPr>
          <a:xfrm>
            <a:off x="2286000" y="4238625"/>
            <a:ext cx="7620000" cy="3333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650" noProof="1">
                <a:solidFill>
                  <a:srgbClr val="D4A843"/>
                </a:solidFill>
                <a:latin typeface="QuattrocentoSans"/>
                <a:ea typeface="MiSans"/>
              </a:rPr>
              <a:t>基于 DeepSeek 大模型的 AI 论文辅助写作平台</a:t>
            </a:r>
          </a:p>
        </p:txBody>
      </p:sp>
      <p:sp>
        <p:nvSpPr>
          <p:cNvPr id="7" name="dsl:cover-info|s=$caption"/>
          <p:cNvSpPr txBox="1"/>
          <p:nvPr/>
        </p:nvSpPr>
        <p:spPr>
          <a:xfrm>
            <a:off x="3238500" y="4762500"/>
            <a:ext cx="5715000" cy="76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80000"/>
              </a:lnSpc>
            </a:pPr>
            <a:r>
              <a:rPr sz="1200" noProof="1">
                <a:solidFill>
                  <a:srgbClr val="FFFFFF">
                    <a:alpha val="66666"/>
                  </a:srgbClr>
                </a:solidFill>
                <a:latin typeface="QuattrocentoSans"/>
                <a:ea typeface="MiSans"/>
              </a:rPr>
              <a:t>选题5：论文自动生成及润色系统</a:t>
            </a:r>
          </a:p>
          <a:p>
            <a:pPr algn="ctr">
              <a:lnSpc>
                <a:spcPct val="180000"/>
              </a:lnSpc>
            </a:pPr>
            <a:r>
              <a:rPr sz="1200" noProof="1">
                <a:solidFill>
                  <a:srgbClr val="FFFFFF">
                    <a:alpha val="66666"/>
                  </a:srgbClr>
                </a:solidFill>
                <a:latin typeface="QuattrocentoSans"/>
                <a:ea typeface="MiSans"/>
              </a:rPr>
              <a:t>React + FastAPI + DeepSeek v4 + python-docx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c-title|s=$heading"/>
          <p:cNvSpPr txBox="1"/>
          <p:nvPr/>
        </p:nvSpPr>
        <p:spPr>
          <a:xfrm>
            <a:off x="571500" y="476250"/>
            <a:ext cx="28575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700" noProof="1">
                <a:solidFill>
                  <a:srgbClr val="1B3A5F"/>
                </a:solidFill>
                <a:latin typeface="QuattrocentoSans"/>
                <a:ea typeface="MiSans"/>
              </a:rPr>
              <a:t>目录</a:t>
            </a:r>
          </a:p>
        </p:txBody>
      </p:sp>
      <p:sp>
        <p:nvSpPr>
          <p:cNvPr id="3" name="dsl:toc-title-bar"/>
          <p:cNvSpPr/>
          <p:nvPr/>
        </p:nvSpPr>
        <p:spPr>
          <a:xfrm>
            <a:off x="571500" y="1000125"/>
            <a:ext cx="571500" cy="38100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toc-deco-text"/>
          <p:cNvSpPr txBox="1"/>
          <p:nvPr/>
        </p:nvSpPr>
        <p:spPr>
          <a:xfrm>
            <a:off x="571500" y="1333500"/>
            <a:ext cx="3429000" cy="4762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0" noProof="1">
                <a:solidFill>
                  <a:srgbClr val="1B3A5F">
                    <a:alpha val="3137"/>
                  </a:srgbClr>
                </a:solidFill>
                <a:latin typeface="QuattrocentoSans"/>
                <a:ea typeface="MiSans"/>
              </a:rPr>
              <a:t>CONT</a:t>
            </a:r>
          </a:p>
          <a:p>
            <a:pPr algn="l"/>
            <a:r>
              <a:rPr sz="9000" noProof="1">
                <a:solidFill>
                  <a:srgbClr val="1B3A5F">
                    <a:alpha val="3137"/>
                  </a:srgbClr>
                </a:solidFill>
                <a:latin typeface="QuattrocentoSans"/>
                <a:ea typeface="MiSans"/>
              </a:rPr>
              <a:t>ENTS</a:t>
            </a:r>
          </a:p>
        </p:txBody>
      </p:sp>
      <p:sp>
        <p:nvSpPr>
          <p:cNvPr id="5" name="dsl:toc-card-bg-1"/>
          <p:cNvSpPr/>
          <p:nvPr/>
        </p:nvSpPr>
        <p:spPr>
          <a:xfrm>
            <a:off x="3810000" y="1333500"/>
            <a:ext cx="3238500" cy="2286000"/>
          </a:xfrm>
          <a:prstGeom prst="roundRect">
            <a:avLst>
              <a:gd name="adj" fmla="val 8000"/>
            </a:avLst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toc-num-1"/>
          <p:cNvSpPr txBox="1"/>
          <p:nvPr/>
        </p:nvSpPr>
        <p:spPr>
          <a:xfrm>
            <a:off x="4000500" y="1524000"/>
            <a:ext cx="762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700" noProof="1">
                <a:solidFill>
                  <a:srgbClr val="D4A843"/>
                </a:solidFill>
                <a:latin typeface="QuattrocentoSans"/>
                <a:ea typeface="MiSans"/>
              </a:rPr>
              <a:t>01</a:t>
            </a:r>
          </a:p>
        </p:txBody>
      </p:sp>
      <p:sp>
        <p:nvSpPr>
          <p:cNvPr id="7" name="dsl:toc-label-1|s=$subheading"/>
          <p:cNvSpPr txBox="1"/>
          <p:nvPr/>
        </p:nvSpPr>
        <p:spPr>
          <a:xfrm>
            <a:off x="4000500" y="2095500"/>
            <a:ext cx="2857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650" noProof="1">
                <a:solidFill>
                  <a:srgbClr val="1B3A5F"/>
                </a:solidFill>
                <a:latin typeface="QuattrocentoSans"/>
                <a:ea typeface="MiSans"/>
              </a:rPr>
              <a:t>项目背景与目标</a:t>
            </a:r>
          </a:p>
        </p:txBody>
      </p:sp>
      <p:sp>
        <p:nvSpPr>
          <p:cNvPr id="8" name="dsl:toc-desc-1|s=$body"/>
          <p:cNvSpPr txBox="1"/>
          <p:nvPr/>
        </p:nvSpPr>
        <p:spPr>
          <a:xfrm>
            <a:off x="4000500" y="247650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4A6D8C"/>
                </a:solidFill>
                <a:latin typeface="QuattrocentoSans"/>
                <a:ea typeface="MiSans"/>
              </a:rPr>
              <a:t>痛点分析、项目定位与核心目标</a:t>
            </a:r>
          </a:p>
        </p:txBody>
      </p:sp>
      <p:sp>
        <p:nvSpPr>
          <p:cNvPr id="9" name="dsl:toc-card-bg-2"/>
          <p:cNvSpPr/>
          <p:nvPr/>
        </p:nvSpPr>
        <p:spPr>
          <a:xfrm>
            <a:off x="7429500" y="1333500"/>
            <a:ext cx="4191000" cy="2286000"/>
          </a:xfrm>
          <a:prstGeom prst="roundRect">
            <a:avLst>
              <a:gd name="adj" fmla="val 8000"/>
            </a:avLst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toc-num-2"/>
          <p:cNvSpPr txBox="1"/>
          <p:nvPr/>
        </p:nvSpPr>
        <p:spPr>
          <a:xfrm>
            <a:off x="7620000" y="1524000"/>
            <a:ext cx="762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700" noProof="1">
                <a:solidFill>
                  <a:srgbClr val="D4A843"/>
                </a:solidFill>
                <a:latin typeface="QuattrocentoSans"/>
                <a:ea typeface="MiSans"/>
              </a:rPr>
              <a:t>02</a:t>
            </a:r>
          </a:p>
        </p:txBody>
      </p:sp>
      <p:sp>
        <p:nvSpPr>
          <p:cNvPr id="11" name="dsl:toc-label-2|s=$subheading"/>
          <p:cNvSpPr txBox="1"/>
          <p:nvPr/>
        </p:nvSpPr>
        <p:spPr>
          <a:xfrm>
            <a:off x="7620000" y="209550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650" noProof="1">
                <a:solidFill>
                  <a:srgbClr val="1B3A5F"/>
                </a:solidFill>
                <a:latin typeface="QuattrocentoSans"/>
                <a:ea typeface="MiSans"/>
              </a:rPr>
              <a:t>系统架构与核心功能</a:t>
            </a:r>
          </a:p>
        </p:txBody>
      </p:sp>
      <p:sp>
        <p:nvSpPr>
          <p:cNvPr id="12" name="dsl:toc-desc-2|s=$body"/>
          <p:cNvSpPr txBox="1"/>
          <p:nvPr/>
        </p:nvSpPr>
        <p:spPr>
          <a:xfrm>
            <a:off x="7620000" y="2476500"/>
            <a:ext cx="38100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4A6D8C"/>
                </a:solidFill>
                <a:latin typeface="QuattrocentoSans"/>
                <a:ea typeface="MiSans"/>
              </a:rPr>
              <a:t>前后端架构、论文生成、润色、排版、选题、可视化</a:t>
            </a:r>
          </a:p>
        </p:txBody>
      </p:sp>
      <p:sp>
        <p:nvSpPr>
          <p:cNvPr id="13" name="dsl:toc-card-bg-3"/>
          <p:cNvSpPr/>
          <p:nvPr/>
        </p:nvSpPr>
        <p:spPr>
          <a:xfrm>
            <a:off x="3810000" y="3905250"/>
            <a:ext cx="4191000" cy="2286000"/>
          </a:xfrm>
          <a:prstGeom prst="roundRect">
            <a:avLst>
              <a:gd name="adj" fmla="val 8000"/>
            </a:avLst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toc-num-3"/>
          <p:cNvSpPr txBox="1"/>
          <p:nvPr/>
        </p:nvSpPr>
        <p:spPr>
          <a:xfrm>
            <a:off x="4000500" y="4095750"/>
            <a:ext cx="762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700" noProof="1">
                <a:solidFill>
                  <a:srgbClr val="D4A843"/>
                </a:solidFill>
                <a:latin typeface="QuattrocentoSans"/>
                <a:ea typeface="MiSans"/>
              </a:rPr>
              <a:t>03</a:t>
            </a:r>
          </a:p>
        </p:txBody>
      </p:sp>
      <p:sp>
        <p:nvSpPr>
          <p:cNvPr id="15" name="dsl:toc-label-3|s=$subheading"/>
          <p:cNvSpPr txBox="1"/>
          <p:nvPr/>
        </p:nvSpPr>
        <p:spPr>
          <a:xfrm>
            <a:off x="4000500" y="466725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650" noProof="1">
                <a:solidFill>
                  <a:srgbClr val="1B3A5F"/>
                </a:solidFill>
                <a:latin typeface="QuattrocentoSans"/>
                <a:ea typeface="MiSans"/>
              </a:rPr>
              <a:t>技术亮点与实现</a:t>
            </a:r>
          </a:p>
        </p:txBody>
      </p:sp>
      <p:sp>
        <p:nvSpPr>
          <p:cNvPr id="16" name="dsl:toc-desc-3|s=$body"/>
          <p:cNvSpPr txBox="1"/>
          <p:nvPr/>
        </p:nvSpPr>
        <p:spPr>
          <a:xfrm>
            <a:off x="4000500" y="5048250"/>
            <a:ext cx="38100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4A6D8C"/>
                </a:solidFill>
                <a:latin typeface="QuattrocentoSans"/>
                <a:ea typeface="MiSans"/>
              </a:rPr>
              <a:t>Prompt工程、JSON容错、模块化引擎、模板体系</a:t>
            </a:r>
          </a:p>
        </p:txBody>
      </p:sp>
      <p:sp>
        <p:nvSpPr>
          <p:cNvPr id="17" name="dsl:toc-card-bg-4"/>
          <p:cNvSpPr/>
          <p:nvPr/>
        </p:nvSpPr>
        <p:spPr>
          <a:xfrm>
            <a:off x="8382000" y="3905250"/>
            <a:ext cx="3238500" cy="2286000"/>
          </a:xfrm>
          <a:prstGeom prst="roundRect">
            <a:avLst>
              <a:gd name="adj" fmla="val 8000"/>
            </a:avLst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l:toc-num-4"/>
          <p:cNvSpPr txBox="1"/>
          <p:nvPr/>
        </p:nvSpPr>
        <p:spPr>
          <a:xfrm>
            <a:off x="8572500" y="4095750"/>
            <a:ext cx="762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700" noProof="1">
                <a:solidFill>
                  <a:srgbClr val="D4A843"/>
                </a:solidFill>
                <a:latin typeface="QuattrocentoSans"/>
                <a:ea typeface="MiSans"/>
              </a:rPr>
              <a:t>04</a:t>
            </a:r>
          </a:p>
        </p:txBody>
      </p:sp>
      <p:sp>
        <p:nvSpPr>
          <p:cNvPr id="19" name="dsl:toc-label-4|s=$subheading"/>
          <p:cNvSpPr txBox="1"/>
          <p:nvPr/>
        </p:nvSpPr>
        <p:spPr>
          <a:xfrm>
            <a:off x="8572500" y="4667250"/>
            <a:ext cx="2857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650" noProof="1">
                <a:solidFill>
                  <a:srgbClr val="1B3A5F"/>
                </a:solidFill>
                <a:latin typeface="QuattrocentoSans"/>
                <a:ea typeface="MiSans"/>
              </a:rPr>
              <a:t>项目成果与展望</a:t>
            </a:r>
          </a:p>
        </p:txBody>
      </p:sp>
      <p:sp>
        <p:nvSpPr>
          <p:cNvPr id="20" name="dsl:toc-desc-4|s=$body"/>
          <p:cNvSpPr txBox="1"/>
          <p:nvPr/>
        </p:nvSpPr>
        <p:spPr>
          <a:xfrm>
            <a:off x="8572500" y="5048250"/>
            <a:ext cx="2857500" cy="333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4A6D8C"/>
                </a:solidFill>
                <a:latin typeface="QuattrocentoSans"/>
                <a:ea typeface="MiSans"/>
              </a:rPr>
              <a:t>成果总结、API概览、未来方向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g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ch1"/>
          <p:cNvSpPr txBox="1"/>
          <p:nvPr/>
        </p:nvSpPr>
        <p:spPr>
          <a:xfrm>
            <a:off x="0" y="0"/>
            <a:ext cx="3048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FFFFFF"/>
                </a:solidFill>
                <a:latin typeface="QuattrocentoSans"/>
                <a:ea typeface="MiSans"/>
              </a:rPr>
              <a:t>01 项目背景与目标</a:t>
            </a:r>
          </a:p>
        </p:txBody>
      </p:sp>
      <p:sp>
        <p:nvSpPr>
          <p:cNvPr id="4" name="dsl:nav-ch2"/>
          <p:cNvSpPr txBox="1"/>
          <p:nvPr/>
        </p:nvSpPr>
        <p:spPr>
          <a:xfrm>
            <a:off x="3048000" y="0"/>
            <a:ext cx="3048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FFFFFF">
                    <a:alpha val="50196"/>
                  </a:srgbClr>
                </a:solidFill>
                <a:latin typeface="QuattrocentoSans"/>
                <a:ea typeface="MiSans"/>
              </a:rPr>
              <a:t>02 系统架构与核心功能</a:t>
            </a:r>
          </a:p>
        </p:txBody>
      </p:sp>
      <p:sp>
        <p:nvSpPr>
          <p:cNvPr id="5" name="dsl:nav-ch3"/>
          <p:cNvSpPr txBox="1"/>
          <p:nvPr/>
        </p:nvSpPr>
        <p:spPr>
          <a:xfrm>
            <a:off x="6096000" y="0"/>
            <a:ext cx="3048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FFFFFF">
                    <a:alpha val="50196"/>
                  </a:srgbClr>
                </a:solidFill>
                <a:latin typeface="QuattrocentoSans"/>
                <a:ea typeface="MiSans"/>
              </a:rPr>
              <a:t>03 技术亮点与实现</a:t>
            </a:r>
          </a:p>
        </p:txBody>
      </p:sp>
      <p:sp>
        <p:nvSpPr>
          <p:cNvPr id="6" name="dsl:nav-ch4"/>
          <p:cNvSpPr txBox="1"/>
          <p:nvPr/>
        </p:nvSpPr>
        <p:spPr>
          <a:xfrm>
            <a:off x="9144000" y="0"/>
            <a:ext cx="3048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FFFFFF">
                    <a:alpha val="50196"/>
                  </a:srgbClr>
                </a:solidFill>
                <a:latin typeface="QuattrocentoSans"/>
                <a:ea typeface="MiSans"/>
              </a:rPr>
              <a:t>04 项目成果与展望</a:t>
            </a:r>
          </a:p>
        </p:txBody>
      </p:sp>
      <p:cxnSp>
        <p:nvCxnSpPr>
          <p:cNvPr id="7" name="dsl:nav-indicator"/>
          <p:cNvCxnSpPr/>
          <p:nvPr/>
        </p:nvCxnSpPr>
        <p:spPr>
          <a:xfrm>
            <a:off x="0" y="381000"/>
            <a:ext cx="3048000" cy="0"/>
          </a:xfrm>
          <a:prstGeom prst="straightConnector1">
            <a:avLst/>
          </a:prstGeom>
          <a:ln w="38100">
            <a:solidFill>
              <a:srgbClr val="D4A84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sl:page-title|s=$heading"/>
          <p:cNvSpPr txBox="1"/>
          <p:nvPr/>
        </p:nvSpPr>
        <p:spPr>
          <a:xfrm>
            <a:off x="571500" y="523875"/>
            <a:ext cx="47625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250" noProof="1">
                <a:solidFill>
                  <a:srgbClr val="1B3A5F"/>
                </a:solidFill>
                <a:latin typeface="QuattrocentoSans"/>
                <a:ea typeface="MiSans"/>
              </a:rPr>
              <a:t>项目背景与目标</a:t>
            </a:r>
          </a:p>
        </p:txBody>
      </p:sp>
      <p:sp>
        <p:nvSpPr>
          <p:cNvPr id="9" name="dsl:title-bar"/>
          <p:cNvSpPr/>
          <p:nvPr/>
        </p:nvSpPr>
        <p:spPr>
          <a:xfrm>
            <a:off x="571500" y="952500"/>
            <a:ext cx="476250" cy="38100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dsl:pain-icon|i=fas:circle-exclamation" descr="tmpjxhq8a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238250"/>
            <a:ext cx="304800" cy="3048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1" name="dsl:pain-title|s=$subheading"/>
          <p:cNvSpPr txBox="1"/>
          <p:nvPr/>
        </p:nvSpPr>
        <p:spPr>
          <a:xfrm>
            <a:off x="1000125" y="1238250"/>
            <a:ext cx="190500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noProof="1">
                <a:solidFill>
                  <a:srgbClr val="D4A843"/>
                </a:solidFill>
                <a:latin typeface="QuattrocentoSans"/>
                <a:ea typeface="MiSans"/>
              </a:rPr>
              <a:t>痛点</a:t>
            </a:r>
          </a:p>
        </p:txBody>
      </p:sp>
      <p:sp>
        <p:nvSpPr>
          <p:cNvPr id="12" name="dsl:pain-content|s=$body"/>
          <p:cNvSpPr txBox="1"/>
          <p:nvPr/>
        </p:nvSpPr>
        <p:spPr>
          <a:xfrm>
            <a:off x="571500" y="1666875"/>
            <a:ext cx="5238750" cy="15716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80000"/>
              </a:lnSpc>
            </a:pPr>
            <a:r>
              <a:rPr sz="1350" noProof="1">
                <a:solidFill>
                  <a:srgbClr val="1A1A2E"/>
                </a:solidFill>
                <a:latin typeface="QuattrocentoSans"/>
                <a:ea typeface="MiSans"/>
              </a:rPr>
              <a:t>• 课程论文写作耗时漫长，学生时间压力大</a:t>
            </a:r>
          </a:p>
          <a:p>
            <a:pPr algn="l">
              <a:lnSpc>
                <a:spcPct val="180000"/>
              </a:lnSpc>
            </a:pPr>
            <a:r>
              <a:rPr sz="1350" noProof="1">
                <a:solidFill>
                  <a:srgbClr val="1A1A2E"/>
                </a:solidFill>
                <a:latin typeface="QuattrocentoSans"/>
                <a:ea typeface="MiSans"/>
              </a:rPr>
              <a:t>• 缺乏学术写作经验，难以组织论文章节</a:t>
            </a:r>
          </a:p>
          <a:p>
            <a:pPr algn="l">
              <a:lnSpc>
                <a:spcPct val="180000"/>
              </a:lnSpc>
            </a:pPr>
            <a:r>
              <a:rPr sz="1350" noProof="1">
                <a:solidFill>
                  <a:srgbClr val="1A1A2E"/>
                </a:solidFill>
                <a:latin typeface="QuattrocentoSans"/>
                <a:ea typeface="MiSans"/>
              </a:rPr>
              <a:t>• 格式排版繁琐，引用规范易出错</a:t>
            </a:r>
          </a:p>
          <a:p>
            <a:pPr algn="l">
              <a:lnSpc>
                <a:spcPct val="180000"/>
              </a:lnSpc>
            </a:pPr>
            <a:r>
              <a:rPr sz="1350" noProof="1">
                <a:solidFill>
                  <a:srgbClr val="1A1A2E"/>
                </a:solidFill>
                <a:latin typeface="QuattrocentoSans"/>
                <a:ea typeface="MiSans"/>
              </a:rPr>
              <a:t>• 参考文献查找与整理效率低下</a:t>
            </a:r>
          </a:p>
        </p:txBody>
      </p:sp>
      <p:pic>
        <p:nvPicPr>
          <p:cNvPr id="13" name="dsl:opp-icon|i=fas:lightbulb" descr="tmplr5bbv2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86125"/>
            <a:ext cx="304800" cy="3048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4" name="dsl:opp-title|s=$subheading"/>
          <p:cNvSpPr txBox="1"/>
          <p:nvPr/>
        </p:nvSpPr>
        <p:spPr>
          <a:xfrm>
            <a:off x="1000125" y="3286125"/>
            <a:ext cx="190500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noProof="1">
                <a:solidFill>
                  <a:srgbClr val="1B3A5F"/>
                </a:solidFill>
                <a:latin typeface="QuattrocentoSans"/>
                <a:ea typeface="MiSans"/>
              </a:rPr>
              <a:t>机遇</a:t>
            </a:r>
          </a:p>
        </p:txBody>
      </p:sp>
      <p:sp>
        <p:nvSpPr>
          <p:cNvPr id="15" name="dsl:opp-content|s=$body"/>
          <p:cNvSpPr txBox="1"/>
          <p:nvPr/>
        </p:nvSpPr>
        <p:spPr>
          <a:xfrm>
            <a:off x="571500" y="3714750"/>
            <a:ext cx="523875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80000"/>
              </a:lnSpc>
            </a:pPr>
            <a:r>
              <a:rPr sz="1350" noProof="1">
                <a:solidFill>
                  <a:srgbClr val="1A1A2E"/>
                </a:solidFill>
                <a:latin typeface="QuattrocentoSans"/>
                <a:ea typeface="MiSans"/>
              </a:rPr>
              <a:t>• DeepSeek 大模型具备强大的文本生成</a:t>
            </a:r>
          </a:p>
          <a:p>
            <a:pPr algn="l">
              <a:lnSpc>
                <a:spcPct val="180000"/>
              </a:lnSpc>
            </a:pPr>
            <a:r>
              <a:rPr sz="1350" noProof="1">
                <a:solidFill>
                  <a:srgbClr val="1A1A2E"/>
                </a:solidFill>
                <a:latin typeface="QuattrocentoSans"/>
                <a:ea typeface="MiSans"/>
              </a:rPr>
              <a:t>  和语言理解能力</a:t>
            </a:r>
          </a:p>
          <a:p>
            <a:pPr algn="l">
              <a:lnSpc>
                <a:spcPct val="180000"/>
              </a:lnSpc>
            </a:pPr>
            <a:r>
              <a:rPr sz="1350" noProof="1">
                <a:solidFill>
                  <a:srgbClr val="1A1A2E"/>
                </a:solidFill>
                <a:latin typeface="QuattrocentoSans"/>
                <a:ea typeface="MiSans"/>
              </a:rPr>
              <a:t>• AI 可辅助完成论文写作全流程</a:t>
            </a:r>
          </a:p>
        </p:txBody>
      </p:sp>
      <p:sp>
        <p:nvSpPr>
          <p:cNvPr id="16" name="dsl:goal-card-bg"/>
          <p:cNvSpPr/>
          <p:nvPr/>
        </p:nvSpPr>
        <p:spPr>
          <a:xfrm>
            <a:off x="6286500" y="1238250"/>
            <a:ext cx="5334000" cy="3238500"/>
          </a:xfrm>
          <a:prstGeom prst="roundRect">
            <a:avLst>
              <a:gd name="adj" fmla="val 8000"/>
            </a:avLst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goal-title|s=$subheading"/>
          <p:cNvSpPr txBox="1"/>
          <p:nvPr/>
        </p:nvSpPr>
        <p:spPr>
          <a:xfrm>
            <a:off x="6572250" y="1428750"/>
            <a:ext cx="190500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noProof="1">
                <a:solidFill>
                  <a:srgbClr val="1B3A5F"/>
                </a:solidFill>
                <a:latin typeface="QuattrocentoSans"/>
                <a:ea typeface="MiSans"/>
              </a:rPr>
              <a:t>项目目标</a:t>
            </a:r>
          </a:p>
        </p:txBody>
      </p:sp>
      <p:sp>
        <p:nvSpPr>
          <p:cNvPr id="18" name="dsl:goal-content|s=$body"/>
          <p:cNvSpPr txBox="1"/>
          <p:nvPr/>
        </p:nvSpPr>
        <p:spPr>
          <a:xfrm>
            <a:off x="6572250" y="1857375"/>
            <a:ext cx="4762500" cy="24288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80000"/>
              </a:lnSpc>
            </a:pPr>
            <a:r>
              <a:rPr sz="1350" noProof="1">
                <a:solidFill>
                  <a:srgbClr val="1A1A2E"/>
                </a:solidFill>
                <a:latin typeface="QuattrocentoSans"/>
                <a:ea typeface="MiSans"/>
              </a:rPr>
              <a:t>构建一站式 AI 论文辅助写作平台，覆盖：</a:t>
            </a:r>
          </a:p>
          <a:p>
            <a:pPr algn="l">
              <a:lnSpc>
                <a:spcPct val="180000"/>
              </a:lnSpc>
            </a:pPr>
            <a:r>
              <a:rPr sz="1350" noProof="1">
                <a:solidFill>
                  <a:srgbClr val="1A1A2E"/>
                </a:solidFill>
                <a:latin typeface="QuattrocentoSans"/>
                <a:ea typeface="MiSans"/>
              </a:rPr>
              <a:t> </a:t>
            </a:r>
          </a:p>
          <a:p>
            <a:pPr algn="l">
              <a:lnSpc>
                <a:spcPct val="180000"/>
              </a:lnSpc>
            </a:pPr>
            <a:r>
              <a:rPr b="1" sz="1350" noProof="1">
                <a:solidFill>
                  <a:srgbClr val="1A1A2E"/>
                </a:solidFill>
                <a:latin typeface="QuattrocentoSans"/>
                <a:ea typeface="MiSans"/>
              </a:rPr>
              <a:t>生成</a:t>
            </a:r>
            <a:r>
              <a:rPr sz="1350" noProof="1">
                <a:solidFill>
                  <a:srgbClr val="1A1A2E"/>
                </a:solidFill>
                <a:latin typeface="QuattrocentoSans"/>
                <a:ea typeface="MiSans"/>
              </a:rPr>
              <a:t> — 输入主题，AI 输出完整论文</a:t>
            </a:r>
          </a:p>
          <a:p>
            <a:pPr algn="l">
              <a:lnSpc>
                <a:spcPct val="180000"/>
              </a:lnSpc>
            </a:pPr>
            <a:r>
              <a:rPr b="1" sz="1350" noProof="1">
                <a:solidFill>
                  <a:srgbClr val="1A1A2E"/>
                </a:solidFill>
                <a:latin typeface="QuattrocentoSans"/>
                <a:ea typeface="MiSans"/>
              </a:rPr>
              <a:t>润色</a:t>
            </a:r>
            <a:r>
              <a:rPr sz="1350" noProof="1">
                <a:solidFill>
                  <a:srgbClr val="1A1A2E"/>
                </a:solidFill>
                <a:latin typeface="QuattrocentoSans"/>
                <a:ea typeface="MiSans"/>
              </a:rPr>
              <a:t> — 四种模式，精准改写</a:t>
            </a:r>
          </a:p>
          <a:p>
            <a:pPr algn="l">
              <a:lnSpc>
                <a:spcPct val="180000"/>
              </a:lnSpc>
            </a:pPr>
            <a:r>
              <a:rPr b="1" sz="1350" noProof="1">
                <a:solidFill>
                  <a:srgbClr val="1A1A2E"/>
                </a:solidFill>
                <a:latin typeface="QuattrocentoSans"/>
                <a:ea typeface="MiSans"/>
              </a:rPr>
              <a:t>排版</a:t>
            </a:r>
            <a:r>
              <a:rPr sz="1350" noProof="1">
                <a:solidFill>
                  <a:srgbClr val="1A1A2E"/>
                </a:solidFill>
                <a:latin typeface="QuattrocentoSans"/>
                <a:ea typeface="MiSans"/>
              </a:rPr>
              <a:t> — 多模板，一键规范</a:t>
            </a:r>
          </a:p>
          <a:p>
            <a:pPr algn="l">
              <a:lnSpc>
                <a:spcPct val="180000"/>
              </a:lnSpc>
            </a:pPr>
            <a:r>
              <a:rPr b="1" sz="1350" noProof="1">
                <a:solidFill>
                  <a:srgbClr val="1A1A2E"/>
                </a:solidFill>
                <a:latin typeface="QuattrocentoSans"/>
                <a:ea typeface="MiSans"/>
              </a:rPr>
              <a:t>导出</a:t>
            </a:r>
            <a:r>
              <a:rPr sz="1350" noProof="1">
                <a:solidFill>
                  <a:srgbClr val="1A1A2E"/>
                </a:solidFill>
                <a:latin typeface="QuattrocentoSans"/>
                <a:ea typeface="MiSans"/>
              </a:rPr>
              <a:t> — 标准 Word，直接提交</a:t>
            </a:r>
          </a:p>
        </p:txBody>
      </p:sp>
      <p:sp>
        <p:nvSpPr>
          <p:cNvPr id="19" name="dsl:page-num|s=$caption"/>
          <p:cNvSpPr txBox="1"/>
          <p:nvPr/>
        </p:nvSpPr>
        <p:spPr>
          <a:xfrm>
            <a:off x="11239500" y="6477000"/>
            <a:ext cx="5715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4A6D8C"/>
                </a:solidFill>
                <a:latin typeface="QuattrocentoSans"/>
                <a:ea typeface="MiSan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g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ch1"/>
          <p:cNvSpPr txBox="1"/>
          <p:nvPr/>
        </p:nvSpPr>
        <p:spPr>
          <a:xfrm>
            <a:off x="0" y="0"/>
            <a:ext cx="3048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FFFFFF">
                    <a:alpha val="50196"/>
                  </a:srgbClr>
                </a:solidFill>
                <a:latin typeface="QuattrocentoSans"/>
                <a:ea typeface="MiSans"/>
              </a:rPr>
              <a:t>01 项目背景与目标</a:t>
            </a:r>
          </a:p>
        </p:txBody>
      </p:sp>
      <p:sp>
        <p:nvSpPr>
          <p:cNvPr id="4" name="dsl:nav-ch2"/>
          <p:cNvSpPr txBox="1"/>
          <p:nvPr/>
        </p:nvSpPr>
        <p:spPr>
          <a:xfrm>
            <a:off x="3048000" y="0"/>
            <a:ext cx="3048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FFFFFF"/>
                </a:solidFill>
                <a:latin typeface="QuattrocentoSans"/>
                <a:ea typeface="MiSans"/>
              </a:rPr>
              <a:t>02 系统架构与核心功能</a:t>
            </a:r>
          </a:p>
        </p:txBody>
      </p:sp>
      <p:sp>
        <p:nvSpPr>
          <p:cNvPr id="5" name="dsl:nav-ch3"/>
          <p:cNvSpPr txBox="1"/>
          <p:nvPr/>
        </p:nvSpPr>
        <p:spPr>
          <a:xfrm>
            <a:off x="6096000" y="0"/>
            <a:ext cx="3048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FFFFFF">
                    <a:alpha val="50196"/>
                  </a:srgbClr>
                </a:solidFill>
                <a:latin typeface="QuattrocentoSans"/>
                <a:ea typeface="MiSans"/>
              </a:rPr>
              <a:t>03 技术亮点与实现</a:t>
            </a:r>
          </a:p>
        </p:txBody>
      </p:sp>
      <p:sp>
        <p:nvSpPr>
          <p:cNvPr id="6" name="dsl:nav-ch4"/>
          <p:cNvSpPr txBox="1"/>
          <p:nvPr/>
        </p:nvSpPr>
        <p:spPr>
          <a:xfrm>
            <a:off x="9144000" y="0"/>
            <a:ext cx="3048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FFFFFF">
                    <a:alpha val="50196"/>
                  </a:srgbClr>
                </a:solidFill>
                <a:latin typeface="QuattrocentoSans"/>
                <a:ea typeface="MiSans"/>
              </a:rPr>
              <a:t>04 项目成果与展望</a:t>
            </a:r>
          </a:p>
        </p:txBody>
      </p:sp>
      <p:cxnSp>
        <p:nvCxnSpPr>
          <p:cNvPr id="7" name="dsl:nav-indicator"/>
          <p:cNvCxnSpPr/>
          <p:nvPr/>
        </p:nvCxnSpPr>
        <p:spPr>
          <a:xfrm>
            <a:off x="3048000" y="381000"/>
            <a:ext cx="3048000" cy="0"/>
          </a:xfrm>
          <a:prstGeom prst="straightConnector1">
            <a:avLst/>
          </a:prstGeom>
          <a:ln w="38100">
            <a:solidFill>
              <a:srgbClr val="D4A84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sl:page-title|s=$heading"/>
          <p:cNvSpPr txBox="1"/>
          <p:nvPr/>
        </p:nvSpPr>
        <p:spPr>
          <a:xfrm>
            <a:off x="571500" y="523875"/>
            <a:ext cx="47625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250" noProof="1">
                <a:solidFill>
                  <a:srgbClr val="1B3A5F"/>
                </a:solidFill>
                <a:latin typeface="QuattrocentoSans"/>
                <a:ea typeface="MiSans"/>
              </a:rPr>
              <a:t>系统架构总览</a:t>
            </a:r>
          </a:p>
        </p:txBody>
      </p:sp>
      <p:sp>
        <p:nvSpPr>
          <p:cNvPr id="9" name="dsl:title-bar"/>
          <p:cNvSpPr/>
          <p:nvPr/>
        </p:nvSpPr>
        <p:spPr>
          <a:xfrm>
            <a:off x="571500" y="952500"/>
            <a:ext cx="476250" cy="38100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arch-desc|s=$body"/>
          <p:cNvSpPr txBox="1"/>
          <p:nvPr/>
        </p:nvSpPr>
        <p:spPr>
          <a:xfrm>
            <a:off x="571500" y="1143000"/>
            <a:ext cx="5238750" cy="666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A1A2E"/>
                </a:solidFill>
                <a:latin typeface="QuattrocentoSans"/>
                <a:ea typeface="MiSans"/>
              </a:rPr>
              <a:t>前后端分离架构，模块化引擎设计，</a:t>
            </a:r>
          </a:p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A1A2E"/>
                </a:solidFill>
                <a:latin typeface="QuattrocentoSans"/>
                <a:ea typeface="MiSans"/>
              </a:rPr>
              <a:t>覆盖论文写作全流程服务。</a:t>
            </a:r>
          </a:p>
        </p:txBody>
      </p:sp>
      <p:sp>
        <p:nvSpPr>
          <p:cNvPr id="11" name="dsl:fe-card-bg"/>
          <p:cNvSpPr/>
          <p:nvPr/>
        </p:nvSpPr>
        <p:spPr>
          <a:xfrm>
            <a:off x="571500" y="1952625"/>
            <a:ext cx="2476500" cy="1047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dsl:fe-icon|i=fas:desktop" descr="tmpuyg8uy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2095500"/>
            <a:ext cx="266700" cy="266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3" name="dsl:fe-title"/>
          <p:cNvSpPr txBox="1"/>
          <p:nvPr/>
        </p:nvSpPr>
        <p:spPr>
          <a:xfrm>
            <a:off x="1066800" y="2076450"/>
            <a:ext cx="18097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1B3A5F"/>
                </a:solidFill>
                <a:latin typeface="QuattrocentoSans"/>
                <a:ea typeface="MiSans"/>
              </a:rPr>
              <a:t>前端层</a:t>
            </a:r>
          </a:p>
        </p:txBody>
      </p:sp>
      <p:sp>
        <p:nvSpPr>
          <p:cNvPr id="14" name="dsl:fe-desc"/>
          <p:cNvSpPr txBox="1"/>
          <p:nvPr/>
        </p:nvSpPr>
        <p:spPr>
          <a:xfrm>
            <a:off x="714375" y="2428875"/>
            <a:ext cx="2190750" cy="5238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4A6D8C"/>
                </a:solidFill>
                <a:latin typeface="QuattrocentoSans"/>
                <a:ea typeface="MiSans"/>
              </a:rPr>
              <a:t>React + TypeScript</a:t>
            </a:r>
          </a:p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4A6D8C"/>
                </a:solidFill>
                <a:latin typeface="QuattrocentoSans"/>
                <a:ea typeface="MiSans"/>
              </a:rPr>
              <a:t>Tailwind CSS + Vite</a:t>
            </a:r>
          </a:p>
        </p:txBody>
      </p:sp>
      <p:sp>
        <p:nvSpPr>
          <p:cNvPr id="15" name="dsl:be-card-bg"/>
          <p:cNvSpPr/>
          <p:nvPr/>
        </p:nvSpPr>
        <p:spPr>
          <a:xfrm>
            <a:off x="3238500" y="1952625"/>
            <a:ext cx="2476500" cy="1047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dsl:be-icon|i=fas:server" descr="tmpuyg8uy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375" y="2095500"/>
            <a:ext cx="266700" cy="266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7" name="dsl:be-title"/>
          <p:cNvSpPr txBox="1"/>
          <p:nvPr/>
        </p:nvSpPr>
        <p:spPr>
          <a:xfrm>
            <a:off x="3733800" y="2076450"/>
            <a:ext cx="18097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1B3A5F"/>
                </a:solidFill>
                <a:latin typeface="QuattrocentoSans"/>
                <a:ea typeface="MiSans"/>
              </a:rPr>
              <a:t>后端服务</a:t>
            </a:r>
          </a:p>
        </p:txBody>
      </p:sp>
      <p:sp>
        <p:nvSpPr>
          <p:cNvPr id="18" name="dsl:be-desc"/>
          <p:cNvSpPr txBox="1"/>
          <p:nvPr/>
        </p:nvSpPr>
        <p:spPr>
          <a:xfrm>
            <a:off x="3381375" y="2428875"/>
            <a:ext cx="2190750" cy="5238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4A6D8C"/>
                </a:solidFill>
                <a:latin typeface="QuattrocentoSans"/>
                <a:ea typeface="MiSans"/>
              </a:rPr>
              <a:t>FastAPI + Python</a:t>
            </a:r>
          </a:p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4A6D8C"/>
                </a:solidFill>
                <a:latin typeface="QuattrocentoSans"/>
                <a:ea typeface="MiSans"/>
              </a:rPr>
              <a:t>RESTful API 设计</a:t>
            </a:r>
          </a:p>
        </p:txBody>
      </p:sp>
      <p:sp>
        <p:nvSpPr>
          <p:cNvPr id="19" name="dsl:ai-card-bg"/>
          <p:cNvSpPr/>
          <p:nvPr/>
        </p:nvSpPr>
        <p:spPr>
          <a:xfrm>
            <a:off x="571500" y="3095625"/>
            <a:ext cx="2476500" cy="1047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dsl:ai-icon|i=fas:robot" descr="tmpg5kvrv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3238500"/>
            <a:ext cx="266700" cy="266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1" name="dsl:ai-title"/>
          <p:cNvSpPr txBox="1"/>
          <p:nvPr/>
        </p:nvSpPr>
        <p:spPr>
          <a:xfrm>
            <a:off x="1066800" y="3219450"/>
            <a:ext cx="18097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D4A843"/>
                </a:solidFill>
                <a:latin typeface="QuattrocentoSans"/>
                <a:ea typeface="MiSans"/>
              </a:rPr>
              <a:t>AI 生成引擎</a:t>
            </a:r>
          </a:p>
        </p:txBody>
      </p:sp>
      <p:sp>
        <p:nvSpPr>
          <p:cNvPr id="22" name="dsl:ai-desc"/>
          <p:cNvSpPr txBox="1"/>
          <p:nvPr/>
        </p:nvSpPr>
        <p:spPr>
          <a:xfrm>
            <a:off x="714375" y="3571875"/>
            <a:ext cx="2190750" cy="5238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4A6D8C"/>
                </a:solidFill>
                <a:latin typeface="QuattrocentoSans"/>
                <a:ea typeface="MiSans"/>
              </a:rPr>
              <a:t>DeepSeek v4 API</a:t>
            </a:r>
          </a:p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4A6D8C"/>
                </a:solidFill>
                <a:latin typeface="QuattrocentoSans"/>
                <a:ea typeface="MiSans"/>
              </a:rPr>
              <a:t>结构化 Prompt 工程</a:t>
            </a:r>
          </a:p>
        </p:txBody>
      </p:sp>
      <p:sp>
        <p:nvSpPr>
          <p:cNvPr id="23" name="dsl:polish-card-bg"/>
          <p:cNvSpPr/>
          <p:nvPr/>
        </p:nvSpPr>
        <p:spPr>
          <a:xfrm>
            <a:off x="3238500" y="3095625"/>
            <a:ext cx="2476500" cy="1047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dsl:polish-icon|i=fas:wand-magic-sparkles" descr="tmpg5kvrv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1375" y="3238500"/>
            <a:ext cx="266700" cy="266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5" name="dsl:polish-title"/>
          <p:cNvSpPr txBox="1"/>
          <p:nvPr/>
        </p:nvSpPr>
        <p:spPr>
          <a:xfrm>
            <a:off x="3733800" y="3219450"/>
            <a:ext cx="18097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D4A843"/>
                </a:solidFill>
                <a:latin typeface="QuattrocentoSans"/>
                <a:ea typeface="MiSans"/>
              </a:rPr>
              <a:t>润色引擎</a:t>
            </a:r>
          </a:p>
        </p:txBody>
      </p:sp>
      <p:sp>
        <p:nvSpPr>
          <p:cNvPr id="26" name="dsl:polish-desc"/>
          <p:cNvSpPr txBox="1"/>
          <p:nvPr/>
        </p:nvSpPr>
        <p:spPr>
          <a:xfrm>
            <a:off x="3381375" y="3571875"/>
            <a:ext cx="2190750" cy="5238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4A6D8C"/>
                </a:solidFill>
                <a:latin typeface="QuattrocentoSans"/>
                <a:ea typeface="MiSans"/>
              </a:rPr>
              <a:t>语法修正 / 学术改写</a:t>
            </a:r>
          </a:p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4A6D8C"/>
                </a:solidFill>
                <a:latin typeface="QuattrocentoSans"/>
                <a:ea typeface="MiSans"/>
              </a:rPr>
              <a:t>内容扩展 / 文本精简</a:t>
            </a:r>
          </a:p>
        </p:txBody>
      </p:sp>
      <p:sp>
        <p:nvSpPr>
          <p:cNvPr id="27" name="dsl:export-card-bg"/>
          <p:cNvSpPr/>
          <p:nvPr/>
        </p:nvSpPr>
        <p:spPr>
          <a:xfrm>
            <a:off x="571500" y="4238625"/>
            <a:ext cx="2476500" cy="1047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dsl:export-icon|i=fas:file-word" descr="tmpuyg8uy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4381500"/>
            <a:ext cx="266700" cy="266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9" name="dsl:export-title"/>
          <p:cNvSpPr txBox="1"/>
          <p:nvPr/>
        </p:nvSpPr>
        <p:spPr>
          <a:xfrm>
            <a:off x="1066800" y="4362450"/>
            <a:ext cx="18097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1B3A5F"/>
                </a:solidFill>
                <a:latin typeface="QuattrocentoSans"/>
                <a:ea typeface="MiSans"/>
              </a:rPr>
              <a:t>导出模块</a:t>
            </a:r>
          </a:p>
        </p:txBody>
      </p:sp>
      <p:sp>
        <p:nvSpPr>
          <p:cNvPr id="30" name="dsl:export-desc"/>
          <p:cNvSpPr txBox="1"/>
          <p:nvPr/>
        </p:nvSpPr>
        <p:spPr>
          <a:xfrm>
            <a:off x="714375" y="4714875"/>
            <a:ext cx="2190750" cy="5238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4A6D8C"/>
                </a:solidFill>
                <a:latin typeface="QuattrocentoSans"/>
                <a:ea typeface="MiSans"/>
              </a:rPr>
              <a:t>python-docx 规范导出</a:t>
            </a:r>
          </a:p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4A6D8C"/>
                </a:solidFill>
                <a:latin typeface="QuattrocentoSans"/>
                <a:ea typeface="MiSans"/>
              </a:rPr>
              <a:t>GB/T 7713 / IEEE / ACM</a:t>
            </a:r>
          </a:p>
        </p:txBody>
      </p:sp>
      <p:sp>
        <p:nvSpPr>
          <p:cNvPr id="31" name="dsl:more-card-bg"/>
          <p:cNvSpPr/>
          <p:nvPr/>
        </p:nvSpPr>
        <p:spPr>
          <a:xfrm>
            <a:off x="3238500" y="4238625"/>
            <a:ext cx="2476500" cy="1047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dsl:more-icon|i=fas:chart-pie" descr="tmpuyg8uy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375" y="4381500"/>
            <a:ext cx="266700" cy="266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33" name="dsl:more-title"/>
          <p:cNvSpPr txBox="1"/>
          <p:nvPr/>
        </p:nvSpPr>
        <p:spPr>
          <a:xfrm>
            <a:off x="3733800" y="4362450"/>
            <a:ext cx="18097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1B3A5F"/>
                </a:solidFill>
                <a:latin typeface="QuattrocentoSans"/>
                <a:ea typeface="MiSans"/>
              </a:rPr>
              <a:t>更多引擎</a:t>
            </a:r>
          </a:p>
        </p:txBody>
      </p:sp>
      <p:sp>
        <p:nvSpPr>
          <p:cNvPr id="34" name="dsl:more-desc"/>
          <p:cNvSpPr txBox="1"/>
          <p:nvPr/>
        </p:nvSpPr>
        <p:spPr>
          <a:xfrm>
            <a:off x="3381375" y="4714875"/>
            <a:ext cx="2190750" cy="5238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4A6D8C"/>
                </a:solidFill>
                <a:latin typeface="QuattrocentoSans"/>
                <a:ea typeface="MiSans"/>
              </a:rPr>
              <a:t>选题 / 文献 / 查重</a:t>
            </a:r>
          </a:p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4A6D8C"/>
                </a:solidFill>
                <a:latin typeface="QuattrocentoSans"/>
                <a:ea typeface="MiSans"/>
              </a:rPr>
              <a:t>可视化 / 开题报告</a:t>
            </a:r>
          </a:p>
        </p:txBody>
      </p:sp>
      <p:cxnSp>
        <p:nvCxnSpPr>
          <p:cNvPr id="35" name="dsl:arrow-fe-to-be"/>
          <p:cNvCxnSpPr/>
          <p:nvPr/>
        </p:nvCxnSpPr>
        <p:spPr>
          <a:xfrm>
            <a:off x="1905000" y="2428875"/>
            <a:ext cx="1333500" cy="0"/>
          </a:xfrm>
          <a:prstGeom prst="straightConnector1">
            <a:avLst/>
          </a:prstGeom>
          <a:ln w="25400">
            <a:solidFill>
              <a:srgbClr val="4A6D8C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dsl:arrow-ai-to-polish"/>
          <p:cNvCxnSpPr/>
          <p:nvPr/>
        </p:nvCxnSpPr>
        <p:spPr>
          <a:xfrm>
            <a:off x="1905000" y="3571875"/>
            <a:ext cx="1333500" cy="0"/>
          </a:xfrm>
          <a:prstGeom prst="straightConnector1">
            <a:avLst/>
          </a:prstGeom>
          <a:ln w="25400">
            <a:solidFill>
              <a:srgbClr val="4A6D8C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dsl:arrow-export-to-more"/>
          <p:cNvCxnSpPr/>
          <p:nvPr/>
        </p:nvCxnSpPr>
        <p:spPr>
          <a:xfrm>
            <a:off x="1905000" y="4714875"/>
            <a:ext cx="1333500" cy="0"/>
          </a:xfrm>
          <a:prstGeom prst="straightConnector1">
            <a:avLst/>
          </a:prstGeom>
          <a:ln w="25400">
            <a:solidFill>
              <a:srgbClr val="4A6D8C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dsl:detail-title|s=$subheading"/>
          <p:cNvSpPr txBox="1"/>
          <p:nvPr/>
        </p:nvSpPr>
        <p:spPr>
          <a:xfrm>
            <a:off x="6286500" y="1143000"/>
            <a:ext cx="2857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noProof="1">
                <a:solidFill>
                  <a:srgbClr val="1B3A5F"/>
                </a:solidFill>
                <a:latin typeface="QuattrocentoSans"/>
                <a:ea typeface="MiSans"/>
              </a:rPr>
              <a:t>后端引擎清单</a:t>
            </a:r>
          </a:p>
        </p:txBody>
      </p:sp>
      <p:graphicFrame>
        <p:nvGraphicFramePr>
          <p:cNvPr id="39" name="dsl:detail-table"/>
          <p:cNvGraphicFramePr>
            <a:graphicFrameLocks noGrp="1"/>
          </p:cNvGraphicFramePr>
          <p:nvPr/>
        </p:nvGraphicFramePr>
        <p:xfrm>
          <a:off x="6286500" y="1524000"/>
          <a:ext cx="5334000" cy="3714744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333500"/>
                <a:gridCol w="2400300"/>
                <a:gridCol w="1600200"/>
              </a:tblGrid>
              <a:tr h="464343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引擎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1B3A5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职责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1B3A5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技术要点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1B3A5F"/>
                    </a:solidFill>
                  </a:tcPr>
                </a:tc>
              </a:tr>
              <a:tr h="464343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paper_engine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论文生成、多轮续写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DeepSeek v4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4343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polish_engine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学术润色四种模式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结构化Prompt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E8EEF4"/>
                    </a:solidFill>
                  </a:tcPr>
                </a:tc>
              </a:tr>
              <a:tr h="464343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export_engine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Word文档导出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python-docx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4343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format_engine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结构识别与模板套用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JSON模板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E8EEF4"/>
                    </a:solidFill>
                  </a:tcPr>
                </a:tc>
              </a:tr>
              <a:tr h="464343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topic_engine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选题推荐与趋势分析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AI可视化数据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4343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literature_engine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文献搜索与综述生成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Semantic Scholar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E8EEF4"/>
                    </a:solidFill>
                  </a:tcPr>
                </a:tc>
              </a:tr>
              <a:tr h="464343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plagiarism_engine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查重分析与降重改写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AI原创性评估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0" name="dsl:page-num|s=$caption"/>
          <p:cNvSpPr txBox="1"/>
          <p:nvPr/>
        </p:nvSpPr>
        <p:spPr>
          <a:xfrm>
            <a:off x="11239500" y="6477000"/>
            <a:ext cx="5715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4A6D8C"/>
                </a:solidFill>
                <a:latin typeface="QuattrocentoSans"/>
                <a:ea typeface="MiSan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g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ch1"/>
          <p:cNvSpPr txBox="1"/>
          <p:nvPr/>
        </p:nvSpPr>
        <p:spPr>
          <a:xfrm>
            <a:off x="0" y="0"/>
            <a:ext cx="3048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FFFFFF">
                    <a:alpha val="50196"/>
                  </a:srgbClr>
                </a:solidFill>
                <a:latin typeface="QuattrocentoSans"/>
                <a:ea typeface="MiSans"/>
              </a:rPr>
              <a:t>01 项目背景与目标</a:t>
            </a:r>
          </a:p>
        </p:txBody>
      </p:sp>
      <p:sp>
        <p:nvSpPr>
          <p:cNvPr id="4" name="dsl:nav-ch2"/>
          <p:cNvSpPr txBox="1"/>
          <p:nvPr/>
        </p:nvSpPr>
        <p:spPr>
          <a:xfrm>
            <a:off x="3048000" y="0"/>
            <a:ext cx="3048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FFFFFF"/>
                </a:solidFill>
                <a:latin typeface="QuattrocentoSans"/>
                <a:ea typeface="MiSans"/>
              </a:rPr>
              <a:t>02 系统架构与核心功能</a:t>
            </a:r>
          </a:p>
        </p:txBody>
      </p:sp>
      <p:sp>
        <p:nvSpPr>
          <p:cNvPr id="5" name="dsl:nav-ch3"/>
          <p:cNvSpPr txBox="1"/>
          <p:nvPr/>
        </p:nvSpPr>
        <p:spPr>
          <a:xfrm>
            <a:off x="6096000" y="0"/>
            <a:ext cx="3048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FFFFFF">
                    <a:alpha val="50196"/>
                  </a:srgbClr>
                </a:solidFill>
                <a:latin typeface="QuattrocentoSans"/>
                <a:ea typeface="MiSans"/>
              </a:rPr>
              <a:t>03 技术亮点与实现</a:t>
            </a:r>
          </a:p>
        </p:txBody>
      </p:sp>
      <p:sp>
        <p:nvSpPr>
          <p:cNvPr id="6" name="dsl:nav-ch4"/>
          <p:cNvSpPr txBox="1"/>
          <p:nvPr/>
        </p:nvSpPr>
        <p:spPr>
          <a:xfrm>
            <a:off x="9144000" y="0"/>
            <a:ext cx="3048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FFFFFF">
                    <a:alpha val="50196"/>
                  </a:srgbClr>
                </a:solidFill>
                <a:latin typeface="QuattrocentoSans"/>
                <a:ea typeface="MiSans"/>
              </a:rPr>
              <a:t>04 项目成果与展望</a:t>
            </a:r>
          </a:p>
        </p:txBody>
      </p:sp>
      <p:cxnSp>
        <p:nvCxnSpPr>
          <p:cNvPr id="7" name="dsl:nav-indicator"/>
          <p:cNvCxnSpPr/>
          <p:nvPr/>
        </p:nvCxnSpPr>
        <p:spPr>
          <a:xfrm>
            <a:off x="3048000" y="381000"/>
            <a:ext cx="3048000" cy="0"/>
          </a:xfrm>
          <a:prstGeom prst="straightConnector1">
            <a:avLst/>
          </a:prstGeom>
          <a:ln w="38100">
            <a:solidFill>
              <a:srgbClr val="D4A84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sl:page-title|s=$heading"/>
          <p:cNvSpPr txBox="1"/>
          <p:nvPr/>
        </p:nvSpPr>
        <p:spPr>
          <a:xfrm>
            <a:off x="571500" y="523875"/>
            <a:ext cx="571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250" noProof="1">
                <a:solidFill>
                  <a:srgbClr val="1B3A5F"/>
                </a:solidFill>
                <a:latin typeface="QuattrocentoSans"/>
                <a:ea typeface="MiSans"/>
              </a:rPr>
              <a:t>核心功能：论文生成引擎</a:t>
            </a:r>
          </a:p>
        </p:txBody>
      </p:sp>
      <p:sp>
        <p:nvSpPr>
          <p:cNvPr id="9" name="dsl:title-bar"/>
          <p:cNvSpPr/>
          <p:nvPr/>
        </p:nvSpPr>
        <p:spPr>
          <a:xfrm>
            <a:off x="571500" y="952500"/>
            <a:ext cx="476250" cy="38100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left-content|s=$body"/>
          <p:cNvSpPr txBox="1"/>
          <p:nvPr/>
        </p:nvSpPr>
        <p:spPr>
          <a:xfrm>
            <a:off x="571500" y="1143000"/>
            <a:ext cx="5334000" cy="2667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80000"/>
              </a:lnSpc>
            </a:pPr>
            <a:r>
              <a:rPr b="1" sz="1350" noProof="1">
                <a:solidFill>
                  <a:srgbClr val="1A1A2E"/>
                </a:solidFill>
                <a:latin typeface="QuattrocentoSans"/>
                <a:ea typeface="MiSans"/>
              </a:rPr>
              <a:t>输入</a:t>
            </a:r>
          </a:p>
          <a:p>
            <a:pPr algn="l">
              <a:lnSpc>
                <a:spcPct val="180000"/>
              </a:lnSpc>
            </a:pPr>
            <a:r>
              <a:rPr sz="1350" noProof="1">
                <a:solidFill>
                  <a:srgbClr val="1A1A2E"/>
                </a:solidFill>
                <a:latin typeface="QuattrocentoSans"/>
                <a:ea typeface="MiSans"/>
              </a:rPr>
              <a:t>• 主题 + 关键词 + 大纲（可选）</a:t>
            </a:r>
          </a:p>
          <a:p>
            <a:pPr algn="l">
              <a:lnSpc>
                <a:spcPct val="180000"/>
              </a:lnSpc>
            </a:pPr>
            <a:r>
              <a:rPr sz="1350" noProof="1">
                <a:solidFill>
                  <a:srgbClr val="1A1A2E"/>
                </a:solidFill>
                <a:latin typeface="QuattrocentoSans"/>
                <a:ea typeface="MiSans"/>
              </a:rPr>
              <a:t>• 支持传入真实文献引用列表</a:t>
            </a:r>
          </a:p>
          <a:p>
            <a:pPr algn="l">
              <a:lnSpc>
                <a:spcPct val="180000"/>
              </a:lnSpc>
            </a:pPr>
            <a:r>
              <a:rPr sz="1350" noProof="1">
                <a:solidFill>
                  <a:srgbClr val="1A1A2E"/>
                </a:solidFill>
                <a:latin typeface="QuattrocentoSans"/>
                <a:ea typeface="MiSans"/>
              </a:rPr>
              <a:t>• 选择论文类型与输出语言</a:t>
            </a:r>
          </a:p>
          <a:p>
            <a:pPr algn="l">
              <a:lnSpc>
                <a:spcPct val="180000"/>
              </a:lnSpc>
            </a:pPr>
            <a:r>
              <a:rPr b="1" sz="1350" noProof="1">
                <a:solidFill>
                  <a:srgbClr val="1A1A2E"/>
                </a:solidFill>
                <a:latin typeface="QuattrocentoSans"/>
                <a:ea typeface="MiSans"/>
              </a:rPr>
              <a:t>输出</a:t>
            </a:r>
          </a:p>
          <a:p>
            <a:pPr algn="l">
              <a:lnSpc>
                <a:spcPct val="180000"/>
              </a:lnSpc>
            </a:pPr>
            <a:r>
              <a:rPr sz="1350" noProof="1">
                <a:solidFill>
                  <a:srgbClr val="1A1A2E"/>
                </a:solidFill>
                <a:latin typeface="QuattrocentoSans"/>
                <a:ea typeface="MiSans"/>
              </a:rPr>
              <a:t>结构化 JSON：标题 → 摘要 → 正文</a:t>
            </a:r>
          </a:p>
          <a:p>
            <a:pPr algn="l">
              <a:lnSpc>
                <a:spcPct val="180000"/>
              </a:lnSpc>
            </a:pPr>
            <a:r>
              <a:rPr sz="1350" noProof="1">
                <a:solidFill>
                  <a:srgbClr val="1A1A2E"/>
                </a:solidFill>
                <a:latin typeface="QuattrocentoSans"/>
                <a:ea typeface="MiSans"/>
              </a:rPr>
              <a:t>→ 结论 → 参考文献</a:t>
            </a:r>
          </a:p>
        </p:txBody>
      </p:sp>
      <p:sp>
        <p:nvSpPr>
          <p:cNvPr id="11" name="dsl:flow-step1-bg"/>
          <p:cNvSpPr/>
          <p:nvPr/>
        </p:nvSpPr>
        <p:spPr>
          <a:xfrm>
            <a:off x="6286500" y="1238250"/>
            <a:ext cx="1143000" cy="571500"/>
          </a:xfrm>
          <a:prstGeom prst="roundRect">
            <a:avLst>
              <a:gd name="adj" fmla="val 8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flow-step1-text"/>
          <p:cNvSpPr txBox="1"/>
          <p:nvPr/>
        </p:nvSpPr>
        <p:spPr>
          <a:xfrm>
            <a:off x="6286500" y="1238250"/>
            <a:ext cx="11430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FFFFFF"/>
                </a:solidFill>
                <a:latin typeface="QuattrocentoSans"/>
                <a:ea typeface="MiSans"/>
              </a:rPr>
              <a:t>用户输入</a:t>
            </a:r>
          </a:p>
        </p:txBody>
      </p:sp>
      <p:cxnSp>
        <p:nvCxnSpPr>
          <p:cNvPr id="13" name="dsl:flow-arrow1"/>
          <p:cNvCxnSpPr/>
          <p:nvPr/>
        </p:nvCxnSpPr>
        <p:spPr>
          <a:xfrm>
            <a:off x="7429500" y="1524000"/>
            <a:ext cx="381000" cy="0"/>
          </a:xfrm>
          <a:prstGeom prst="straightConnector1">
            <a:avLst/>
          </a:prstGeom>
          <a:ln w="25400">
            <a:solidFill>
              <a:srgbClr val="4A6D8C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dsl:flow-step2-bg"/>
          <p:cNvSpPr/>
          <p:nvPr/>
        </p:nvSpPr>
        <p:spPr>
          <a:xfrm>
            <a:off x="7810500" y="1238250"/>
            <a:ext cx="1143000" cy="571500"/>
          </a:xfrm>
          <a:prstGeom prst="roundRect">
            <a:avLst>
              <a:gd name="adj" fmla="val 8000"/>
            </a:avLst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flow-step2-text"/>
          <p:cNvSpPr txBox="1"/>
          <p:nvPr/>
        </p:nvSpPr>
        <p:spPr>
          <a:xfrm>
            <a:off x="7810500" y="1238250"/>
            <a:ext cx="11430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FFFFFF"/>
                </a:solidFill>
                <a:latin typeface="QuattrocentoSans"/>
                <a:ea typeface="MiSans"/>
              </a:rPr>
              <a:t>Prompt 构建</a:t>
            </a:r>
          </a:p>
        </p:txBody>
      </p:sp>
      <p:cxnSp>
        <p:nvCxnSpPr>
          <p:cNvPr id="16" name="dsl:flow-arrow2"/>
          <p:cNvCxnSpPr/>
          <p:nvPr/>
        </p:nvCxnSpPr>
        <p:spPr>
          <a:xfrm>
            <a:off x="8953500" y="1524000"/>
            <a:ext cx="381000" cy="0"/>
          </a:xfrm>
          <a:prstGeom prst="straightConnector1">
            <a:avLst/>
          </a:prstGeom>
          <a:ln w="25400">
            <a:solidFill>
              <a:srgbClr val="4A6D8C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sl:flow-step3-bg"/>
          <p:cNvSpPr/>
          <p:nvPr/>
        </p:nvSpPr>
        <p:spPr>
          <a:xfrm>
            <a:off x="9334500" y="1238250"/>
            <a:ext cx="1143000" cy="571500"/>
          </a:xfrm>
          <a:prstGeom prst="roundRect">
            <a:avLst>
              <a:gd name="adj" fmla="val 8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l:flow-step3-text"/>
          <p:cNvSpPr txBox="1"/>
          <p:nvPr/>
        </p:nvSpPr>
        <p:spPr>
          <a:xfrm>
            <a:off x="9334500" y="1238250"/>
            <a:ext cx="11430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FFFFFF"/>
                </a:solidFill>
                <a:latin typeface="QuattrocentoSans"/>
                <a:ea typeface="MiSans"/>
              </a:rPr>
              <a:t>DeepSeek 生成</a:t>
            </a:r>
          </a:p>
        </p:txBody>
      </p:sp>
      <p:cxnSp>
        <p:nvCxnSpPr>
          <p:cNvPr id="19" name="dsl:flow-arrow3"/>
          <p:cNvCxnSpPr/>
          <p:nvPr/>
        </p:nvCxnSpPr>
        <p:spPr>
          <a:xfrm>
            <a:off x="10477500" y="1524000"/>
            <a:ext cx="381000" cy="0"/>
          </a:xfrm>
          <a:prstGeom prst="straightConnector1">
            <a:avLst/>
          </a:prstGeom>
          <a:ln w="25400">
            <a:solidFill>
              <a:srgbClr val="4A6D8C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dsl:flow-step4-bg"/>
          <p:cNvSpPr/>
          <p:nvPr/>
        </p:nvSpPr>
        <p:spPr>
          <a:xfrm>
            <a:off x="10858500" y="1238250"/>
            <a:ext cx="762000" cy="571500"/>
          </a:xfrm>
          <a:prstGeom prst="roundRect">
            <a:avLst>
              <a:gd name="adj" fmla="val 8000"/>
            </a:avLst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l:flow-step4-text"/>
          <p:cNvSpPr txBox="1"/>
          <p:nvPr/>
        </p:nvSpPr>
        <p:spPr>
          <a:xfrm>
            <a:off x="10858500" y="1238250"/>
            <a:ext cx="9525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FFFFFF"/>
                </a:solidFill>
                <a:latin typeface="QuattrocentoSans"/>
                <a:ea typeface="MiSans"/>
              </a:rPr>
              <a:t>JSON 输出</a:t>
            </a:r>
          </a:p>
        </p:txBody>
      </p:sp>
      <p:sp>
        <p:nvSpPr>
          <p:cNvPr id="22" name="dsl:feature-title|s=$subheading"/>
          <p:cNvSpPr txBox="1"/>
          <p:nvPr/>
        </p:nvSpPr>
        <p:spPr>
          <a:xfrm>
            <a:off x="571500" y="3810000"/>
            <a:ext cx="2857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noProof="1">
                <a:solidFill>
                  <a:srgbClr val="1B3A5F"/>
                </a:solidFill>
                <a:latin typeface="QuattrocentoSans"/>
                <a:ea typeface="MiSans"/>
              </a:rPr>
              <a:t>关键特性</a:t>
            </a:r>
          </a:p>
        </p:txBody>
      </p:sp>
      <p:sp>
        <p:nvSpPr>
          <p:cNvPr id="23" name="dsl:feature-card1-bg"/>
          <p:cNvSpPr/>
          <p:nvPr/>
        </p:nvSpPr>
        <p:spPr>
          <a:xfrm>
            <a:off x="571500" y="4286250"/>
            <a:ext cx="2667000" cy="1047750"/>
          </a:xfrm>
          <a:prstGeom prst="roundRect">
            <a:avLst>
              <a:gd name="adj" fmla="val 8000"/>
            </a:avLst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dsl:feature-card1-icon|i=fas:book" descr="tmp0q_ed2q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4429125"/>
            <a:ext cx="228600" cy="2286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5" name="dsl:feature-card1-title"/>
          <p:cNvSpPr txBox="1"/>
          <p:nvPr/>
        </p:nvSpPr>
        <p:spPr>
          <a:xfrm>
            <a:off x="1047750" y="4400550"/>
            <a:ext cx="2047875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1B3A5F"/>
                </a:solidFill>
                <a:latin typeface="QuattrocentoSans"/>
                <a:ea typeface="MiSans"/>
              </a:rPr>
              <a:t>真实文献引用</a:t>
            </a:r>
          </a:p>
        </p:txBody>
      </p:sp>
      <p:sp>
        <p:nvSpPr>
          <p:cNvPr id="26" name="dsl:feature-card1-desc"/>
          <p:cNvSpPr txBox="1"/>
          <p:nvPr/>
        </p:nvSpPr>
        <p:spPr>
          <a:xfrm>
            <a:off x="714375" y="4743450"/>
            <a:ext cx="2381250" cy="5238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4A6D8C"/>
                </a:solidFill>
                <a:latin typeface="QuattrocentoSans"/>
                <a:ea typeface="MiSans"/>
              </a:rPr>
              <a:t>传入 Semantic Scholar 检索结果，在正文中恰当引用</a:t>
            </a:r>
          </a:p>
        </p:txBody>
      </p:sp>
      <p:sp>
        <p:nvSpPr>
          <p:cNvPr id="27" name="dsl:feature-card2-bg"/>
          <p:cNvSpPr/>
          <p:nvPr/>
        </p:nvSpPr>
        <p:spPr>
          <a:xfrm>
            <a:off x="3429000" y="4286250"/>
            <a:ext cx="2667000" cy="1047750"/>
          </a:xfrm>
          <a:prstGeom prst="roundRect">
            <a:avLst>
              <a:gd name="adj" fmla="val 8000"/>
            </a:avLst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dsl:feature-card2-icon|i=fas:comments" descr="tmp0q_ed2q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75" y="4429125"/>
            <a:ext cx="228600" cy="2286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9" name="dsl:feature-card2-title"/>
          <p:cNvSpPr txBox="1"/>
          <p:nvPr/>
        </p:nvSpPr>
        <p:spPr>
          <a:xfrm>
            <a:off x="3905250" y="4400550"/>
            <a:ext cx="2047875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1B3A5F"/>
                </a:solidFill>
                <a:latin typeface="QuattrocentoSans"/>
                <a:ea typeface="MiSans"/>
              </a:rPr>
              <a:t>多轮对话修改</a:t>
            </a:r>
          </a:p>
        </p:txBody>
      </p:sp>
      <p:sp>
        <p:nvSpPr>
          <p:cNvPr id="30" name="dsl:feature-card2-desc"/>
          <p:cNvSpPr txBox="1"/>
          <p:nvPr/>
        </p:nvSpPr>
        <p:spPr>
          <a:xfrm>
            <a:off x="3571875" y="4743450"/>
            <a:ext cx="2381250" cy="4286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4A6D8C"/>
                </a:solidFill>
                <a:latin typeface="QuattrocentoSans"/>
                <a:ea typeface="MiSans"/>
              </a:rPr>
              <a:t>上下文保持，支持逐章/逐段反复打磨</a:t>
            </a:r>
          </a:p>
        </p:txBody>
      </p:sp>
      <p:sp>
        <p:nvSpPr>
          <p:cNvPr id="31" name="dsl:feature-card3-bg"/>
          <p:cNvSpPr/>
          <p:nvPr/>
        </p:nvSpPr>
        <p:spPr>
          <a:xfrm>
            <a:off x="6286500" y="4286250"/>
            <a:ext cx="2667000" cy="1047750"/>
          </a:xfrm>
          <a:prstGeom prst="roundRect">
            <a:avLst>
              <a:gd name="adj" fmla="val 8000"/>
            </a:avLst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dsl:feature-card3-icon|i=fas:code" descr="tmp0q_ed2q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75" y="4429125"/>
            <a:ext cx="228600" cy="2286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33" name="dsl:feature-card3-title"/>
          <p:cNvSpPr txBox="1"/>
          <p:nvPr/>
        </p:nvSpPr>
        <p:spPr>
          <a:xfrm>
            <a:off x="6762750" y="4400550"/>
            <a:ext cx="2047875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1B3A5F"/>
                </a:solidFill>
                <a:latin typeface="QuattrocentoSans"/>
                <a:ea typeface="MiSans"/>
              </a:rPr>
              <a:t>JSON 容错解析</a:t>
            </a:r>
          </a:p>
        </p:txBody>
      </p:sp>
      <p:sp>
        <p:nvSpPr>
          <p:cNvPr id="34" name="dsl:feature-card3-desc"/>
          <p:cNvSpPr txBox="1"/>
          <p:nvPr/>
        </p:nvSpPr>
        <p:spPr>
          <a:xfrm>
            <a:off x="6429375" y="4743450"/>
            <a:ext cx="2381250" cy="5238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4A6D8C"/>
                </a:solidFill>
                <a:latin typeface="QuattrocentoSans"/>
                <a:ea typeface="MiSans"/>
              </a:rPr>
              <a:t>修复转义、截断等 LLM 输出常见问题</a:t>
            </a:r>
          </a:p>
        </p:txBody>
      </p:sp>
      <p:sp>
        <p:nvSpPr>
          <p:cNvPr id="35" name="dsl:feature-card4-bg"/>
          <p:cNvSpPr/>
          <p:nvPr/>
        </p:nvSpPr>
        <p:spPr>
          <a:xfrm>
            <a:off x="9144000" y="4286250"/>
            <a:ext cx="2476500" cy="1047750"/>
          </a:xfrm>
          <a:prstGeom prst="roundRect">
            <a:avLst>
              <a:gd name="adj" fmla="val 8000"/>
            </a:avLst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dsl:feature-card4-icon|i=fas:language" descr="tmp0q_ed2q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875" y="4429125"/>
            <a:ext cx="228600" cy="2286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37" name="dsl:feature-card4-title"/>
          <p:cNvSpPr txBox="1"/>
          <p:nvPr/>
        </p:nvSpPr>
        <p:spPr>
          <a:xfrm>
            <a:off x="9620250" y="4400550"/>
            <a:ext cx="1857375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1B3A5F"/>
                </a:solidFill>
                <a:latin typeface="QuattrocentoSans"/>
                <a:ea typeface="MiSans"/>
              </a:rPr>
              <a:t>多语言支持</a:t>
            </a:r>
          </a:p>
        </p:txBody>
      </p:sp>
      <p:sp>
        <p:nvSpPr>
          <p:cNvPr id="38" name="dsl:feature-card4-desc"/>
          <p:cNvSpPr txBox="1"/>
          <p:nvPr/>
        </p:nvSpPr>
        <p:spPr>
          <a:xfrm>
            <a:off x="9286875" y="4743450"/>
            <a:ext cx="2190750" cy="4286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4A6D8C"/>
                </a:solidFill>
                <a:latin typeface="QuattrocentoSans"/>
                <a:ea typeface="MiSans"/>
              </a:rPr>
              <a:t>支持中英文论文生成与润色</a:t>
            </a:r>
          </a:p>
        </p:txBody>
      </p:sp>
      <p:sp>
        <p:nvSpPr>
          <p:cNvPr id="39" name="dsl:page-num|s=$caption"/>
          <p:cNvSpPr txBox="1"/>
          <p:nvPr/>
        </p:nvSpPr>
        <p:spPr>
          <a:xfrm>
            <a:off x="11239500" y="6477000"/>
            <a:ext cx="5715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4A6D8C"/>
                </a:solidFill>
                <a:latin typeface="QuattrocentoSans"/>
                <a:ea typeface="MiSan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g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ch1"/>
          <p:cNvSpPr txBox="1"/>
          <p:nvPr/>
        </p:nvSpPr>
        <p:spPr>
          <a:xfrm>
            <a:off x="0" y="0"/>
            <a:ext cx="3048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FFFFFF">
                    <a:alpha val="50196"/>
                  </a:srgbClr>
                </a:solidFill>
                <a:latin typeface="QuattrocentoSans"/>
                <a:ea typeface="MiSans"/>
              </a:rPr>
              <a:t>01 项目背景与目标</a:t>
            </a:r>
          </a:p>
        </p:txBody>
      </p:sp>
      <p:sp>
        <p:nvSpPr>
          <p:cNvPr id="4" name="dsl:nav-ch2"/>
          <p:cNvSpPr txBox="1"/>
          <p:nvPr/>
        </p:nvSpPr>
        <p:spPr>
          <a:xfrm>
            <a:off x="3048000" y="0"/>
            <a:ext cx="3048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FFFFFF"/>
                </a:solidFill>
                <a:latin typeface="QuattrocentoSans"/>
                <a:ea typeface="MiSans"/>
              </a:rPr>
              <a:t>02 系统架构与核心功能</a:t>
            </a:r>
          </a:p>
        </p:txBody>
      </p:sp>
      <p:sp>
        <p:nvSpPr>
          <p:cNvPr id="5" name="dsl:nav-ch3"/>
          <p:cNvSpPr txBox="1"/>
          <p:nvPr/>
        </p:nvSpPr>
        <p:spPr>
          <a:xfrm>
            <a:off x="6096000" y="0"/>
            <a:ext cx="3048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FFFFFF">
                    <a:alpha val="50196"/>
                  </a:srgbClr>
                </a:solidFill>
                <a:latin typeface="QuattrocentoSans"/>
                <a:ea typeface="MiSans"/>
              </a:rPr>
              <a:t>03 技术亮点与实现</a:t>
            </a:r>
          </a:p>
        </p:txBody>
      </p:sp>
      <p:sp>
        <p:nvSpPr>
          <p:cNvPr id="6" name="dsl:nav-ch4"/>
          <p:cNvSpPr txBox="1"/>
          <p:nvPr/>
        </p:nvSpPr>
        <p:spPr>
          <a:xfrm>
            <a:off x="9144000" y="0"/>
            <a:ext cx="3048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FFFFFF">
                    <a:alpha val="50196"/>
                  </a:srgbClr>
                </a:solidFill>
                <a:latin typeface="QuattrocentoSans"/>
                <a:ea typeface="MiSans"/>
              </a:rPr>
              <a:t>04 项目成果与展望</a:t>
            </a:r>
          </a:p>
        </p:txBody>
      </p:sp>
      <p:cxnSp>
        <p:nvCxnSpPr>
          <p:cNvPr id="7" name="dsl:nav-indicator"/>
          <p:cNvCxnSpPr/>
          <p:nvPr/>
        </p:nvCxnSpPr>
        <p:spPr>
          <a:xfrm>
            <a:off x="3048000" y="381000"/>
            <a:ext cx="3048000" cy="0"/>
          </a:xfrm>
          <a:prstGeom prst="straightConnector1">
            <a:avLst/>
          </a:prstGeom>
          <a:ln w="38100">
            <a:solidFill>
              <a:srgbClr val="D4A84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sl:page-title|s=$heading"/>
          <p:cNvSpPr txBox="1"/>
          <p:nvPr/>
        </p:nvSpPr>
        <p:spPr>
          <a:xfrm>
            <a:off x="571500" y="523875"/>
            <a:ext cx="571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250" noProof="1">
                <a:solidFill>
                  <a:srgbClr val="1B3A5F"/>
                </a:solidFill>
                <a:latin typeface="QuattrocentoSans"/>
                <a:ea typeface="MiSans"/>
              </a:rPr>
              <a:t>核心功能：学术润色与多轮交互</a:t>
            </a:r>
          </a:p>
        </p:txBody>
      </p:sp>
      <p:sp>
        <p:nvSpPr>
          <p:cNvPr id="9" name="dsl:title-bar"/>
          <p:cNvSpPr/>
          <p:nvPr/>
        </p:nvSpPr>
        <p:spPr>
          <a:xfrm>
            <a:off x="571500" y="952500"/>
            <a:ext cx="476250" cy="38100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mode1-bg"/>
          <p:cNvSpPr/>
          <p:nvPr/>
        </p:nvSpPr>
        <p:spPr>
          <a:xfrm>
            <a:off x="571500" y="1190625"/>
            <a:ext cx="2571750" cy="1714500"/>
          </a:xfrm>
          <a:prstGeom prst="roundRect">
            <a:avLst>
              <a:gd name="adj" fmla="val 8000"/>
            </a:avLst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dsl:mode1-icon|i=fas:spell-check" descr="tmpkyzzc0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381125"/>
            <a:ext cx="304800" cy="3048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2" name="dsl:mode1-title"/>
          <p:cNvSpPr txBox="1"/>
          <p:nvPr/>
        </p:nvSpPr>
        <p:spPr>
          <a:xfrm>
            <a:off x="1190625" y="1352550"/>
            <a:ext cx="1762125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B3A5F"/>
                </a:solidFill>
                <a:latin typeface="QuattrocentoSans"/>
                <a:ea typeface="MiSans"/>
              </a:rPr>
              <a:t>语法修正</a:t>
            </a:r>
          </a:p>
        </p:txBody>
      </p:sp>
      <p:sp>
        <p:nvSpPr>
          <p:cNvPr id="13" name="dsl:mode1-desc"/>
          <p:cNvSpPr txBox="1"/>
          <p:nvPr/>
        </p:nvSpPr>
        <p:spPr>
          <a:xfrm>
            <a:off x="762000" y="1762125"/>
            <a:ext cx="2190750" cy="10001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1A1A2E"/>
                </a:solidFill>
                <a:latin typeface="QuattrocentoSans"/>
                <a:ea typeface="MiSans"/>
              </a:rPr>
              <a:t>自动检测并修正语法错误、标点误用、句式杂糅等问题，提升语言规范性。</a:t>
            </a:r>
          </a:p>
        </p:txBody>
      </p:sp>
      <p:sp>
        <p:nvSpPr>
          <p:cNvPr id="14" name="dsl:mode2-bg"/>
          <p:cNvSpPr/>
          <p:nvPr/>
        </p:nvSpPr>
        <p:spPr>
          <a:xfrm>
            <a:off x="3333750" y="1190625"/>
            <a:ext cx="2571750" cy="1714500"/>
          </a:xfrm>
          <a:prstGeom prst="roundRect">
            <a:avLst>
              <a:gd name="adj" fmla="val 8000"/>
            </a:avLst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dsl:mode2-icon|i=fas:graduation-cap" descr="tmpkyzzc0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50" y="1381125"/>
            <a:ext cx="304800" cy="3048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6" name="dsl:mode2-title"/>
          <p:cNvSpPr txBox="1"/>
          <p:nvPr/>
        </p:nvSpPr>
        <p:spPr>
          <a:xfrm>
            <a:off x="3952875" y="1352550"/>
            <a:ext cx="1762125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B3A5F"/>
                </a:solidFill>
                <a:latin typeface="QuattrocentoSans"/>
                <a:ea typeface="MiSans"/>
              </a:rPr>
              <a:t>学术化改写</a:t>
            </a:r>
          </a:p>
        </p:txBody>
      </p:sp>
      <p:sp>
        <p:nvSpPr>
          <p:cNvPr id="17" name="dsl:mode2-desc"/>
          <p:cNvSpPr txBox="1"/>
          <p:nvPr/>
        </p:nvSpPr>
        <p:spPr>
          <a:xfrm>
            <a:off x="3524250" y="1762125"/>
            <a:ext cx="2190750" cy="10001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1A1A2E"/>
                </a:solidFill>
                <a:latin typeface="QuattrocentoSans"/>
                <a:ea typeface="MiSans"/>
              </a:rPr>
              <a:t>将口语化表达转换为学术规范用语，增强专业性与严谨度。</a:t>
            </a:r>
          </a:p>
        </p:txBody>
      </p:sp>
      <p:sp>
        <p:nvSpPr>
          <p:cNvPr id="18" name="dsl:mode3-bg"/>
          <p:cNvSpPr/>
          <p:nvPr/>
        </p:nvSpPr>
        <p:spPr>
          <a:xfrm>
            <a:off x="6096000" y="1190625"/>
            <a:ext cx="2571750" cy="1714500"/>
          </a:xfrm>
          <a:prstGeom prst="roundRect">
            <a:avLst>
              <a:gd name="adj" fmla="val 8000"/>
            </a:avLst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dsl:mode3-icon|i=fas:expand" descr="tmpjxhq8a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381125"/>
            <a:ext cx="304800" cy="3048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0" name="dsl:mode3-title"/>
          <p:cNvSpPr txBox="1"/>
          <p:nvPr/>
        </p:nvSpPr>
        <p:spPr>
          <a:xfrm>
            <a:off x="6715125" y="1352550"/>
            <a:ext cx="1762125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D4A843"/>
                </a:solidFill>
                <a:latin typeface="QuattrocentoSans"/>
                <a:ea typeface="MiSans"/>
              </a:rPr>
              <a:t>内容扩展</a:t>
            </a:r>
          </a:p>
        </p:txBody>
      </p:sp>
      <p:sp>
        <p:nvSpPr>
          <p:cNvPr id="21" name="dsl:mode3-desc"/>
          <p:cNvSpPr txBox="1"/>
          <p:nvPr/>
        </p:nvSpPr>
        <p:spPr>
          <a:xfrm>
            <a:off x="6286500" y="1762125"/>
            <a:ext cx="2190750" cy="10001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1A1A2E"/>
                </a:solidFill>
                <a:latin typeface="QuattrocentoSans"/>
                <a:ea typeface="MiSans"/>
              </a:rPr>
              <a:t>对简要论述进行深度展开，补充论据、案例与数据支撑，增强说服力。</a:t>
            </a:r>
          </a:p>
        </p:txBody>
      </p:sp>
      <p:sp>
        <p:nvSpPr>
          <p:cNvPr id="22" name="dsl:mode4-bg"/>
          <p:cNvSpPr/>
          <p:nvPr/>
        </p:nvSpPr>
        <p:spPr>
          <a:xfrm>
            <a:off x="8858250" y="1190625"/>
            <a:ext cx="2762250" cy="1714500"/>
          </a:xfrm>
          <a:prstGeom prst="roundRect">
            <a:avLst>
              <a:gd name="adj" fmla="val 8000"/>
            </a:avLst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dsl:mode4-icon|i=fas:compress" descr="tmpjxhq8a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750" y="1381125"/>
            <a:ext cx="304800" cy="3048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4" name="dsl:mode4-title"/>
          <p:cNvSpPr txBox="1"/>
          <p:nvPr/>
        </p:nvSpPr>
        <p:spPr>
          <a:xfrm>
            <a:off x="9477375" y="1352550"/>
            <a:ext cx="1952625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D4A843"/>
                </a:solidFill>
                <a:latin typeface="QuattrocentoSans"/>
                <a:ea typeface="MiSans"/>
              </a:rPr>
              <a:t>文本精简</a:t>
            </a:r>
          </a:p>
        </p:txBody>
      </p:sp>
      <p:sp>
        <p:nvSpPr>
          <p:cNvPr id="25" name="dsl:mode4-desc"/>
          <p:cNvSpPr txBox="1"/>
          <p:nvPr/>
        </p:nvSpPr>
        <p:spPr>
          <a:xfrm>
            <a:off x="9048750" y="1762125"/>
            <a:ext cx="2381250" cy="10001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1A1A2E"/>
                </a:solidFill>
                <a:latin typeface="QuattrocentoSans"/>
                <a:ea typeface="MiSans"/>
              </a:rPr>
              <a:t>去除冗余表述，保留核心观点，使论述更凝练、逻辑更紧凑。</a:t>
            </a:r>
          </a:p>
        </p:txBody>
      </p:sp>
      <p:sp>
        <p:nvSpPr>
          <p:cNvPr id="26" name="dsl:multi-title|s=$subheading"/>
          <p:cNvSpPr txBox="1"/>
          <p:nvPr/>
        </p:nvSpPr>
        <p:spPr>
          <a:xfrm>
            <a:off x="571500" y="3143250"/>
            <a:ext cx="2857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noProof="1">
                <a:solidFill>
                  <a:srgbClr val="1B3A5F"/>
                </a:solidFill>
                <a:latin typeface="QuattrocentoSans"/>
                <a:ea typeface="MiSans"/>
              </a:rPr>
              <a:t>多轮交互修改</a:t>
            </a:r>
          </a:p>
        </p:txBody>
      </p:sp>
      <p:sp>
        <p:nvSpPr>
          <p:cNvPr id="27" name="dsl:multi-content|s=$body"/>
          <p:cNvSpPr txBox="1"/>
          <p:nvPr/>
        </p:nvSpPr>
        <p:spPr>
          <a:xfrm>
            <a:off x="571500" y="3524250"/>
            <a:ext cx="5334000" cy="2571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80000"/>
              </a:lnSpc>
            </a:pPr>
            <a:r>
              <a:rPr sz="1350" noProof="1">
                <a:solidFill>
                  <a:srgbClr val="1A1A2E"/>
                </a:solidFill>
                <a:latin typeface="QuattrocentoSans"/>
                <a:ea typeface="MiSans"/>
              </a:rPr>
              <a:t>• 支持 </a:t>
            </a:r>
            <a:r>
              <a:rPr b="1" sz="1350" noProof="1">
                <a:solidFill>
                  <a:srgbClr val="1A1A2E"/>
                </a:solidFill>
                <a:latin typeface="QuattrocentoSans"/>
                <a:ea typeface="MiSans"/>
              </a:rPr>
              <a:t>逐章 / 逐段</a:t>
            </a:r>
            <a:r>
              <a:rPr sz="1350" noProof="1">
                <a:solidFill>
                  <a:srgbClr val="1A1A2E"/>
                </a:solidFill>
                <a:latin typeface="QuattrocentoSans"/>
                <a:ea typeface="MiSans"/>
              </a:rPr>
              <a:t> 针对性修改</a:t>
            </a:r>
          </a:p>
          <a:p>
            <a:pPr algn="l">
              <a:lnSpc>
                <a:spcPct val="180000"/>
              </a:lnSpc>
            </a:pPr>
            <a:r>
              <a:rPr sz="1350" noProof="1">
                <a:solidFill>
                  <a:srgbClr val="1A1A2E"/>
                </a:solidFill>
                <a:latin typeface="QuattrocentoSans"/>
                <a:ea typeface="MiSans"/>
              </a:rPr>
              <a:t>• 自动保持对话上下文，理解论文整体逻辑</a:t>
            </a:r>
          </a:p>
          <a:p>
            <a:pPr algn="l">
              <a:lnSpc>
                <a:spcPct val="180000"/>
              </a:lnSpc>
            </a:pPr>
            <a:r>
              <a:rPr sz="1350" noProof="1">
                <a:solidFill>
                  <a:srgbClr val="1A1A2E"/>
                </a:solidFill>
                <a:latin typeface="QuattrocentoSans"/>
                <a:ea typeface="MiSans"/>
              </a:rPr>
              <a:t>• 返回 </a:t>
            </a:r>
            <a:r>
              <a:rPr b="1" sz="1350" noProof="1">
                <a:solidFill>
                  <a:srgbClr val="1A1A2E"/>
                </a:solidFill>
                <a:latin typeface="QuattrocentoSans"/>
                <a:ea typeface="MiSans"/>
              </a:rPr>
              <a:t>修改说明</a:t>
            </a:r>
            <a:r>
              <a:rPr sz="1350" noProof="1">
                <a:solidFill>
                  <a:srgbClr val="1A1A2E"/>
                </a:solidFill>
                <a:latin typeface="QuattrocentoSans"/>
                <a:ea typeface="MiSans"/>
              </a:rPr>
              <a:t>，标注改动点与理由</a:t>
            </a:r>
          </a:p>
          <a:p>
            <a:pPr algn="l">
              <a:lnSpc>
                <a:spcPct val="180000"/>
              </a:lnSpc>
            </a:pPr>
            <a:r>
              <a:rPr sz="1350" noProof="1">
                <a:solidFill>
                  <a:srgbClr val="1A1A2E"/>
                </a:solidFill>
                <a:latin typeface="QuattrocentoSans"/>
                <a:ea typeface="MiSans"/>
              </a:rPr>
              <a:t>• 历史版本管理，可随时回溯此前修改</a:t>
            </a:r>
          </a:p>
          <a:p>
            <a:pPr algn="l">
              <a:lnSpc>
                <a:spcPct val="180000"/>
              </a:lnSpc>
            </a:pPr>
            <a:r>
              <a:rPr sz="1350" noProof="1">
                <a:solidFill>
                  <a:srgbClr val="1A1A2E"/>
                </a:solidFill>
                <a:latin typeface="QuattrocentoSans"/>
                <a:ea typeface="MiSans"/>
              </a:rPr>
              <a:t>• 基于 DeepSeek 推理能力，实现反复打磨</a:t>
            </a:r>
          </a:p>
        </p:txBody>
      </p:sp>
      <p:sp>
        <p:nvSpPr>
          <p:cNvPr id="28" name="dsl:multi-visual-bg"/>
          <p:cNvSpPr/>
          <p:nvPr/>
        </p:nvSpPr>
        <p:spPr>
          <a:xfrm>
            <a:off x="6286500" y="3143250"/>
            <a:ext cx="5334000" cy="2952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sl:multi-v-user1-bg"/>
          <p:cNvSpPr/>
          <p:nvPr/>
        </p:nvSpPr>
        <p:spPr>
          <a:xfrm>
            <a:off x="6477000" y="3333750"/>
            <a:ext cx="1905000" cy="342900"/>
          </a:xfrm>
          <a:prstGeom prst="roundRect">
            <a:avLst>
              <a:gd name="adj" fmla="val 15000"/>
            </a:avLst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sl:multi-v-user1-text"/>
          <p:cNvSpPr txBox="1"/>
          <p:nvPr/>
        </p:nvSpPr>
        <p:spPr>
          <a:xfrm>
            <a:off x="6572250" y="3333750"/>
            <a:ext cx="1714500" cy="3429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975" noProof="1">
                <a:solidFill>
                  <a:srgbClr val="1A1A2E"/>
                </a:solidFill>
                <a:latin typeface="QuattrocentoSans"/>
                <a:ea typeface="MiSans"/>
              </a:rPr>
              <a:t>👤 扩展第三章论据</a:t>
            </a:r>
          </a:p>
        </p:txBody>
      </p:sp>
      <p:sp>
        <p:nvSpPr>
          <p:cNvPr id="31" name="dsl:multi-v-ai1-bg"/>
          <p:cNvSpPr/>
          <p:nvPr/>
        </p:nvSpPr>
        <p:spPr>
          <a:xfrm>
            <a:off x="8191500" y="3762375"/>
            <a:ext cx="3238500" cy="476250"/>
          </a:xfrm>
          <a:prstGeom prst="roundRect">
            <a:avLst>
              <a:gd name="adj" fmla="val 15000"/>
            </a:avLst>
          </a:prstGeom>
          <a:solidFill>
            <a:srgbClr val="1B3A5F">
              <a:alpha val="627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sl:multi-v-ai1-text"/>
          <p:cNvSpPr txBox="1"/>
          <p:nvPr/>
        </p:nvSpPr>
        <p:spPr>
          <a:xfrm>
            <a:off x="8286750" y="3762375"/>
            <a:ext cx="3048000" cy="4762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975" noProof="1">
                <a:solidFill>
                  <a:srgbClr val="1A1A2E"/>
                </a:solidFill>
                <a:latin typeface="QuattrocentoSans"/>
                <a:ea typeface="MiSans"/>
              </a:rPr>
              <a:t>🤖 已扩展，补充了2个案例与3组数据...</a:t>
            </a:r>
          </a:p>
        </p:txBody>
      </p:sp>
      <p:sp>
        <p:nvSpPr>
          <p:cNvPr id="33" name="dsl:multi-v-user2-bg"/>
          <p:cNvSpPr/>
          <p:nvPr/>
        </p:nvSpPr>
        <p:spPr>
          <a:xfrm>
            <a:off x="6477000" y="4381500"/>
            <a:ext cx="2095500" cy="342900"/>
          </a:xfrm>
          <a:prstGeom prst="roundRect">
            <a:avLst>
              <a:gd name="adj" fmla="val 15000"/>
            </a:avLst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sl:multi-v-user2-text"/>
          <p:cNvSpPr txBox="1"/>
          <p:nvPr/>
        </p:nvSpPr>
        <p:spPr>
          <a:xfrm>
            <a:off x="6572250" y="4381500"/>
            <a:ext cx="1905000" cy="3429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975" noProof="1">
                <a:solidFill>
                  <a:srgbClr val="1A1A2E"/>
                </a:solidFill>
                <a:latin typeface="QuattrocentoSans"/>
                <a:ea typeface="MiSans"/>
              </a:rPr>
              <a:t>👤 结论部分再精炼一下</a:t>
            </a:r>
          </a:p>
        </p:txBody>
      </p:sp>
      <p:sp>
        <p:nvSpPr>
          <p:cNvPr id="35" name="dsl:multi-v-ai2-bg"/>
          <p:cNvSpPr/>
          <p:nvPr/>
        </p:nvSpPr>
        <p:spPr>
          <a:xfrm>
            <a:off x="8191500" y="4810125"/>
            <a:ext cx="3238500" cy="476250"/>
          </a:xfrm>
          <a:prstGeom prst="roundRect">
            <a:avLst>
              <a:gd name="adj" fmla="val 15000"/>
            </a:avLst>
          </a:prstGeom>
          <a:solidFill>
            <a:srgbClr val="1B3A5F">
              <a:alpha val="627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sl:multi-v-ai2-text"/>
          <p:cNvSpPr txBox="1"/>
          <p:nvPr/>
        </p:nvSpPr>
        <p:spPr>
          <a:xfrm>
            <a:off x="8286750" y="4810125"/>
            <a:ext cx="3048000" cy="4762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975" noProof="1">
                <a:solidFill>
                  <a:srgbClr val="1A1A2E"/>
                </a:solidFill>
                <a:latin typeface="QuattrocentoSans"/>
                <a:ea typeface="MiSans"/>
              </a:rPr>
              <a:t>🤖 已精简，删除冗余表述，保留核心观点...</a:t>
            </a:r>
          </a:p>
        </p:txBody>
      </p:sp>
      <p:cxnSp>
        <p:nvCxnSpPr>
          <p:cNvPr id="37" name="dsl:multi-v-arrow1"/>
          <p:cNvCxnSpPr/>
          <p:nvPr/>
        </p:nvCxnSpPr>
        <p:spPr>
          <a:xfrm>
            <a:off x="7524750" y="3676650"/>
            <a:ext cx="0" cy="85725"/>
          </a:xfrm>
          <a:prstGeom prst="straightConnector1">
            <a:avLst/>
          </a:prstGeom>
          <a:ln w="12700">
            <a:solidFill>
              <a:srgbClr val="4A6D8C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dsl:multi-v-arrow2"/>
          <p:cNvCxnSpPr/>
          <p:nvPr/>
        </p:nvCxnSpPr>
        <p:spPr>
          <a:xfrm>
            <a:off x="7524750" y="4724400"/>
            <a:ext cx="0" cy="85725"/>
          </a:xfrm>
          <a:prstGeom prst="straightConnector1">
            <a:avLst/>
          </a:prstGeom>
          <a:ln w="12700">
            <a:solidFill>
              <a:srgbClr val="4A6D8C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dsl:page-num|s=$caption"/>
          <p:cNvSpPr txBox="1"/>
          <p:nvPr/>
        </p:nvSpPr>
        <p:spPr>
          <a:xfrm>
            <a:off x="11239500" y="6477000"/>
            <a:ext cx="5715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4A6D8C"/>
                </a:solidFill>
                <a:latin typeface="QuattrocentoSans"/>
                <a:ea typeface="MiSan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g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ch1"/>
          <p:cNvSpPr txBox="1"/>
          <p:nvPr/>
        </p:nvSpPr>
        <p:spPr>
          <a:xfrm>
            <a:off x="0" y="0"/>
            <a:ext cx="3048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FFFFFF">
                    <a:alpha val="50196"/>
                  </a:srgbClr>
                </a:solidFill>
                <a:latin typeface="QuattrocentoSans"/>
                <a:ea typeface="MiSans"/>
              </a:rPr>
              <a:t>01 项目背景与目标</a:t>
            </a:r>
          </a:p>
        </p:txBody>
      </p:sp>
      <p:sp>
        <p:nvSpPr>
          <p:cNvPr id="4" name="dsl:nav-ch2"/>
          <p:cNvSpPr txBox="1"/>
          <p:nvPr/>
        </p:nvSpPr>
        <p:spPr>
          <a:xfrm>
            <a:off x="3048000" y="0"/>
            <a:ext cx="3048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FFFFFF"/>
                </a:solidFill>
                <a:latin typeface="QuattrocentoSans"/>
                <a:ea typeface="MiSans"/>
              </a:rPr>
              <a:t>02 系统架构与核心功能</a:t>
            </a:r>
          </a:p>
        </p:txBody>
      </p:sp>
      <p:sp>
        <p:nvSpPr>
          <p:cNvPr id="5" name="dsl:nav-ch3"/>
          <p:cNvSpPr txBox="1"/>
          <p:nvPr/>
        </p:nvSpPr>
        <p:spPr>
          <a:xfrm>
            <a:off x="6096000" y="0"/>
            <a:ext cx="3048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FFFFFF">
                    <a:alpha val="50196"/>
                  </a:srgbClr>
                </a:solidFill>
                <a:latin typeface="QuattrocentoSans"/>
                <a:ea typeface="MiSans"/>
              </a:rPr>
              <a:t>03 技术亮点与实现</a:t>
            </a:r>
          </a:p>
        </p:txBody>
      </p:sp>
      <p:sp>
        <p:nvSpPr>
          <p:cNvPr id="6" name="dsl:nav-ch4"/>
          <p:cNvSpPr txBox="1"/>
          <p:nvPr/>
        </p:nvSpPr>
        <p:spPr>
          <a:xfrm>
            <a:off x="9144000" y="0"/>
            <a:ext cx="3048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FFFFFF">
                    <a:alpha val="50196"/>
                  </a:srgbClr>
                </a:solidFill>
                <a:latin typeface="QuattrocentoSans"/>
                <a:ea typeface="MiSans"/>
              </a:rPr>
              <a:t>04 项目成果与展望</a:t>
            </a:r>
          </a:p>
        </p:txBody>
      </p:sp>
      <p:cxnSp>
        <p:nvCxnSpPr>
          <p:cNvPr id="7" name="dsl:nav-indicator"/>
          <p:cNvCxnSpPr/>
          <p:nvPr/>
        </p:nvCxnSpPr>
        <p:spPr>
          <a:xfrm>
            <a:off x="3048000" y="381000"/>
            <a:ext cx="3048000" cy="0"/>
          </a:xfrm>
          <a:prstGeom prst="straightConnector1">
            <a:avLst/>
          </a:prstGeom>
          <a:ln w="38100">
            <a:solidFill>
              <a:srgbClr val="D4A84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sl:page-title|s=$heading"/>
          <p:cNvSpPr txBox="1"/>
          <p:nvPr/>
        </p:nvSpPr>
        <p:spPr>
          <a:xfrm>
            <a:off x="571500" y="523875"/>
            <a:ext cx="571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250" noProof="1">
                <a:solidFill>
                  <a:srgbClr val="1B3A5F"/>
                </a:solidFill>
                <a:latin typeface="QuattrocentoSans"/>
                <a:ea typeface="MiSans"/>
              </a:rPr>
              <a:t>核心功能：智能排版与导出</a:t>
            </a:r>
          </a:p>
        </p:txBody>
      </p:sp>
      <p:sp>
        <p:nvSpPr>
          <p:cNvPr id="9" name="dsl:title-bar"/>
          <p:cNvSpPr/>
          <p:nvPr/>
        </p:nvSpPr>
        <p:spPr>
          <a:xfrm>
            <a:off x="571500" y="952500"/>
            <a:ext cx="476250" cy="38100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left-title|s=$subheading"/>
          <p:cNvSpPr txBox="1"/>
          <p:nvPr/>
        </p:nvSpPr>
        <p:spPr>
          <a:xfrm>
            <a:off x="571500" y="1143000"/>
            <a:ext cx="2857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noProof="1">
                <a:solidFill>
                  <a:srgbClr val="1B3A5F"/>
                </a:solidFill>
                <a:latin typeface="QuattrocentoSans"/>
                <a:ea typeface="MiSans"/>
              </a:rPr>
              <a:t>排版管道流程</a:t>
            </a:r>
          </a:p>
        </p:txBody>
      </p:sp>
      <p:sp>
        <p:nvSpPr>
          <p:cNvPr id="11" name="dsl:pipe-step1-bg"/>
          <p:cNvSpPr/>
          <p:nvPr/>
        </p:nvSpPr>
        <p:spPr>
          <a:xfrm>
            <a:off x="571500" y="1524000"/>
            <a:ext cx="952500" cy="381000"/>
          </a:xfrm>
          <a:prstGeom prst="roundRect">
            <a:avLst>
              <a:gd name="adj" fmla="val 8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pipe-step1-text"/>
          <p:cNvSpPr txBox="1"/>
          <p:nvPr/>
        </p:nvSpPr>
        <p:spPr>
          <a:xfrm>
            <a:off x="571500" y="1524000"/>
            <a:ext cx="95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75" noProof="1">
                <a:solidFill>
                  <a:srgbClr val="FFFFFF"/>
                </a:solidFill>
                <a:latin typeface="QuattrocentoSans"/>
                <a:ea typeface="MiSans"/>
              </a:rPr>
              <a:t>输入</a:t>
            </a:r>
          </a:p>
        </p:txBody>
      </p:sp>
      <p:cxnSp>
        <p:nvCxnSpPr>
          <p:cNvPr id="13" name="dsl:pipe-arrow1"/>
          <p:cNvCxnSpPr/>
          <p:nvPr/>
        </p:nvCxnSpPr>
        <p:spPr>
          <a:xfrm>
            <a:off x="1524000" y="1714500"/>
            <a:ext cx="190500" cy="0"/>
          </a:xfrm>
          <a:prstGeom prst="straightConnector1">
            <a:avLst/>
          </a:prstGeom>
          <a:ln w="25400">
            <a:solidFill>
              <a:srgbClr val="4A6D8C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dsl:pipe-step2-bg"/>
          <p:cNvSpPr/>
          <p:nvPr/>
        </p:nvSpPr>
        <p:spPr>
          <a:xfrm>
            <a:off x="1714500" y="1524000"/>
            <a:ext cx="952500" cy="381000"/>
          </a:xfrm>
          <a:prstGeom prst="roundRect">
            <a:avLst>
              <a:gd name="adj" fmla="val 8000"/>
            </a:avLst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pipe-step2-text"/>
          <p:cNvSpPr txBox="1"/>
          <p:nvPr/>
        </p:nvSpPr>
        <p:spPr>
          <a:xfrm>
            <a:off x="1714500" y="1524000"/>
            <a:ext cx="95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75" noProof="1">
                <a:solidFill>
                  <a:srgbClr val="FFFFFF"/>
                </a:solidFill>
                <a:latin typeface="QuattrocentoSans"/>
                <a:ea typeface="MiSans"/>
              </a:rPr>
              <a:t>识别</a:t>
            </a:r>
          </a:p>
        </p:txBody>
      </p:sp>
      <p:cxnSp>
        <p:nvCxnSpPr>
          <p:cNvPr id="16" name="dsl:pipe-arrow2"/>
          <p:cNvCxnSpPr/>
          <p:nvPr/>
        </p:nvCxnSpPr>
        <p:spPr>
          <a:xfrm>
            <a:off x="2667000" y="1714500"/>
            <a:ext cx="190500" cy="0"/>
          </a:xfrm>
          <a:prstGeom prst="straightConnector1">
            <a:avLst/>
          </a:prstGeom>
          <a:ln w="25400">
            <a:solidFill>
              <a:srgbClr val="4A6D8C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sl:pipe-step3-bg"/>
          <p:cNvSpPr/>
          <p:nvPr/>
        </p:nvSpPr>
        <p:spPr>
          <a:xfrm>
            <a:off x="2857500" y="1524000"/>
            <a:ext cx="952500" cy="381000"/>
          </a:xfrm>
          <a:prstGeom prst="roundRect">
            <a:avLst>
              <a:gd name="adj" fmla="val 8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l:pipe-step3-text"/>
          <p:cNvSpPr txBox="1"/>
          <p:nvPr/>
        </p:nvSpPr>
        <p:spPr>
          <a:xfrm>
            <a:off x="2857500" y="1524000"/>
            <a:ext cx="95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75" noProof="1">
                <a:solidFill>
                  <a:srgbClr val="FFFFFF"/>
                </a:solidFill>
                <a:latin typeface="QuattrocentoSans"/>
                <a:ea typeface="MiSans"/>
              </a:rPr>
              <a:t>模板</a:t>
            </a:r>
          </a:p>
        </p:txBody>
      </p:sp>
      <p:cxnSp>
        <p:nvCxnSpPr>
          <p:cNvPr id="19" name="dsl:pipe-arrow3"/>
          <p:cNvCxnSpPr/>
          <p:nvPr/>
        </p:nvCxnSpPr>
        <p:spPr>
          <a:xfrm>
            <a:off x="3810000" y="1714500"/>
            <a:ext cx="190500" cy="0"/>
          </a:xfrm>
          <a:prstGeom prst="straightConnector1">
            <a:avLst/>
          </a:prstGeom>
          <a:ln w="25400">
            <a:solidFill>
              <a:srgbClr val="4A6D8C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dsl:pipe-step4-bg"/>
          <p:cNvSpPr/>
          <p:nvPr/>
        </p:nvSpPr>
        <p:spPr>
          <a:xfrm>
            <a:off x="4000500" y="1524000"/>
            <a:ext cx="952500" cy="381000"/>
          </a:xfrm>
          <a:prstGeom prst="roundRect">
            <a:avLst>
              <a:gd name="adj" fmla="val 8000"/>
            </a:avLst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l:pipe-step4-text"/>
          <p:cNvSpPr txBox="1"/>
          <p:nvPr/>
        </p:nvSpPr>
        <p:spPr>
          <a:xfrm>
            <a:off x="4000500" y="1524000"/>
            <a:ext cx="95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75" noProof="1">
                <a:solidFill>
                  <a:srgbClr val="FFFFFF"/>
                </a:solidFill>
                <a:latin typeface="QuattrocentoSans"/>
                <a:ea typeface="MiSans"/>
              </a:rPr>
              <a:t>渲染</a:t>
            </a:r>
          </a:p>
        </p:txBody>
      </p:sp>
      <p:cxnSp>
        <p:nvCxnSpPr>
          <p:cNvPr id="22" name="dsl:pipe-arrow4"/>
          <p:cNvCxnSpPr/>
          <p:nvPr/>
        </p:nvCxnSpPr>
        <p:spPr>
          <a:xfrm>
            <a:off x="4953000" y="1714500"/>
            <a:ext cx="190500" cy="0"/>
          </a:xfrm>
          <a:prstGeom prst="straightConnector1">
            <a:avLst/>
          </a:prstGeom>
          <a:ln w="25400">
            <a:solidFill>
              <a:srgbClr val="4A6D8C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dsl:pipe-step5-bg"/>
          <p:cNvSpPr/>
          <p:nvPr/>
        </p:nvSpPr>
        <p:spPr>
          <a:xfrm>
            <a:off x="5143500" y="1524000"/>
            <a:ext cx="952500" cy="381000"/>
          </a:xfrm>
          <a:prstGeom prst="roundRect">
            <a:avLst>
              <a:gd name="adj" fmla="val 8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sl:pipe-step5-text"/>
          <p:cNvSpPr txBox="1"/>
          <p:nvPr/>
        </p:nvSpPr>
        <p:spPr>
          <a:xfrm>
            <a:off x="5143500" y="1524000"/>
            <a:ext cx="95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75" noProof="1">
                <a:solidFill>
                  <a:srgbClr val="FFFFFF"/>
                </a:solidFill>
                <a:latin typeface="QuattrocentoSans"/>
                <a:ea typeface="MiSans"/>
              </a:rPr>
              <a:t>输出</a:t>
            </a:r>
          </a:p>
        </p:txBody>
      </p:sp>
      <p:sp>
        <p:nvSpPr>
          <p:cNvPr id="25" name="dsl:template-title|s=$subheading"/>
          <p:cNvSpPr txBox="1"/>
          <p:nvPr/>
        </p:nvSpPr>
        <p:spPr>
          <a:xfrm>
            <a:off x="571500" y="2095500"/>
            <a:ext cx="2857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noProof="1">
                <a:solidFill>
                  <a:srgbClr val="1B3A5F"/>
                </a:solidFill>
                <a:latin typeface="QuattrocentoSans"/>
                <a:ea typeface="MiSans"/>
              </a:rPr>
              <a:t>支持模板</a:t>
            </a:r>
          </a:p>
        </p:txBody>
      </p:sp>
      <p:graphicFrame>
        <p:nvGraphicFramePr>
          <p:cNvPr id="26" name="dsl:template-table"/>
          <p:cNvGraphicFramePr>
            <a:graphicFrameLocks noGrp="1"/>
          </p:cNvGraphicFramePr>
          <p:nvPr/>
        </p:nvGraphicFramePr>
        <p:xfrm>
          <a:off x="571500" y="2476500"/>
          <a:ext cx="5524500" cy="20955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381125"/>
                <a:gridCol w="2486025"/>
                <a:gridCol w="1657350"/>
              </a:tblGrid>
              <a:tr h="33528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模板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1B3A5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适用场景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1B3A5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格式标准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1B3A5F"/>
                    </a:solidFill>
                  </a:tcPr>
                </a:tc>
              </a:tr>
              <a:tr h="352044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GB/T 7713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中国学位论文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国标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IEEE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电气电子工程论文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IEEE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E8EEF4"/>
                    </a:solidFill>
                  </a:tcPr>
                </a:tc>
              </a:tr>
              <a:tr h="352044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ACM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计算机科学论文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ACM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课程论文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通用课程报告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通用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E8EEF4"/>
                    </a:solidFill>
                  </a:tcPr>
                </a:tc>
              </a:tr>
              <a:tr h="352044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期刊论文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学术期刊投稿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通用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dsl:format-title|s=$subheading"/>
          <p:cNvSpPr txBox="1"/>
          <p:nvPr/>
        </p:nvSpPr>
        <p:spPr>
          <a:xfrm>
            <a:off x="571500" y="4762500"/>
            <a:ext cx="2857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noProof="1">
                <a:solidFill>
                  <a:srgbClr val="1B3A5F"/>
                </a:solidFill>
                <a:latin typeface="QuattrocentoSans"/>
                <a:ea typeface="MiSans"/>
              </a:rPr>
              <a:t>格式规范</a:t>
            </a:r>
          </a:p>
        </p:txBody>
      </p:sp>
      <p:sp>
        <p:nvSpPr>
          <p:cNvPr id="28" name="dsl:format-content|s=$body"/>
          <p:cNvSpPr txBox="1"/>
          <p:nvPr/>
        </p:nvSpPr>
        <p:spPr>
          <a:xfrm>
            <a:off x="571500" y="5143500"/>
            <a:ext cx="5524500" cy="952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1A1A2E"/>
                </a:solidFill>
                <a:latin typeface="QuattrocentoSans"/>
                <a:ea typeface="MiSans"/>
              </a:rPr>
              <a:t>页边距、行距、字体、缩进、页眉页脚、目录自动生成</a:t>
            </a:r>
          </a:p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1A1A2E"/>
                </a:solidFill>
                <a:latin typeface="QuattrocentoSans"/>
                <a:ea typeface="MiSans"/>
              </a:rPr>
              <a:t>宋体正文 + 黑体标题，1.5 倍行距，首行缩进 2 字符</a:t>
            </a:r>
          </a:p>
        </p:txBody>
      </p:sp>
      <p:sp>
        <p:nvSpPr>
          <p:cNvPr id="29" name="dsl:right-title|s=$subheading"/>
          <p:cNvSpPr txBox="1"/>
          <p:nvPr/>
        </p:nvSpPr>
        <p:spPr>
          <a:xfrm>
            <a:off x="6477000" y="1143000"/>
            <a:ext cx="2857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noProof="1">
                <a:solidFill>
                  <a:srgbClr val="1B3A5F"/>
                </a:solidFill>
                <a:latin typeface="QuattrocentoSans"/>
                <a:ea typeface="MiSans"/>
              </a:rPr>
              <a:t>导出能力</a:t>
            </a:r>
          </a:p>
        </p:txBody>
      </p:sp>
      <p:sp>
        <p:nvSpPr>
          <p:cNvPr id="30" name="dsl:export-card1-bg"/>
          <p:cNvSpPr/>
          <p:nvPr/>
        </p:nvSpPr>
        <p:spPr>
          <a:xfrm>
            <a:off x="6477000" y="1571625"/>
            <a:ext cx="2571750" cy="1047750"/>
          </a:xfrm>
          <a:prstGeom prst="roundRect">
            <a:avLst>
              <a:gd name="adj" fmla="val 8000"/>
            </a:avLst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dsl:export-card1-icon|i=fas:file-word" descr="tmpuyg8uy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0" y="1714500"/>
            <a:ext cx="266700" cy="266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32" name="dsl:export-card1-title"/>
          <p:cNvSpPr txBox="1"/>
          <p:nvPr/>
        </p:nvSpPr>
        <p:spPr>
          <a:xfrm>
            <a:off x="7048500" y="1695450"/>
            <a:ext cx="1857375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1B3A5F"/>
                </a:solidFill>
                <a:latin typeface="QuattrocentoSans"/>
                <a:ea typeface="MiSans"/>
              </a:rPr>
              <a:t>Word 导出</a:t>
            </a:r>
          </a:p>
        </p:txBody>
      </p:sp>
      <p:sp>
        <p:nvSpPr>
          <p:cNvPr id="33" name="dsl:export-card1-desc"/>
          <p:cNvSpPr txBox="1"/>
          <p:nvPr/>
        </p:nvSpPr>
        <p:spPr>
          <a:xfrm>
            <a:off x="6667500" y="2047875"/>
            <a:ext cx="2190750" cy="476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4A6D8C"/>
                </a:solidFill>
                <a:latin typeface="QuattrocentoSans"/>
                <a:ea typeface="MiSans"/>
              </a:rPr>
              <a:t>python-docx 生成标准 .docx 文件，可直接提交</a:t>
            </a:r>
          </a:p>
        </p:txBody>
      </p:sp>
      <p:sp>
        <p:nvSpPr>
          <p:cNvPr id="34" name="dsl:export-card2-bg"/>
          <p:cNvSpPr/>
          <p:nvPr/>
        </p:nvSpPr>
        <p:spPr>
          <a:xfrm>
            <a:off x="9239250" y="1571625"/>
            <a:ext cx="2571750" cy="1047750"/>
          </a:xfrm>
          <a:prstGeom prst="roundRect">
            <a:avLst>
              <a:gd name="adj" fmla="val 8000"/>
            </a:avLst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dsl:export-card2-icon|i=fas:file-import" descr="tmpuyg8uy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750" y="1714500"/>
            <a:ext cx="266700" cy="266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36" name="dsl:export-card2-title"/>
          <p:cNvSpPr txBox="1"/>
          <p:nvPr/>
        </p:nvSpPr>
        <p:spPr>
          <a:xfrm>
            <a:off x="9810750" y="1695450"/>
            <a:ext cx="1857375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1B3A5F"/>
                </a:solidFill>
                <a:latin typeface="QuattrocentoSans"/>
                <a:ea typeface="MiSans"/>
              </a:rPr>
              <a:t>DOCX 解析</a:t>
            </a:r>
          </a:p>
        </p:txBody>
      </p:sp>
      <p:sp>
        <p:nvSpPr>
          <p:cNvPr id="37" name="dsl:export-card2-desc"/>
          <p:cNvSpPr txBox="1"/>
          <p:nvPr/>
        </p:nvSpPr>
        <p:spPr>
          <a:xfrm>
            <a:off x="9429750" y="2047875"/>
            <a:ext cx="2190750" cy="476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4A6D8C"/>
                </a:solidFill>
                <a:latin typeface="QuattrocentoSans"/>
                <a:ea typeface="MiSans"/>
              </a:rPr>
              <a:t>上传现有 DOCX，提取结构后重新排版</a:t>
            </a:r>
          </a:p>
        </p:txBody>
      </p:sp>
      <p:sp>
        <p:nvSpPr>
          <p:cNvPr id="38" name="dsl:export-card3-bg"/>
          <p:cNvSpPr/>
          <p:nvPr/>
        </p:nvSpPr>
        <p:spPr>
          <a:xfrm>
            <a:off x="6477000" y="2809875"/>
            <a:ext cx="2571750" cy="1047750"/>
          </a:xfrm>
          <a:prstGeom prst="roundRect">
            <a:avLst>
              <a:gd name="adj" fmla="val 8000"/>
            </a:avLst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dsl:export-card3-icon|i=fas:file-pdf" descr="tmpg5kvrv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2952750"/>
            <a:ext cx="266700" cy="266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40" name="dsl:export-card3-title"/>
          <p:cNvSpPr txBox="1"/>
          <p:nvPr/>
        </p:nvSpPr>
        <p:spPr>
          <a:xfrm>
            <a:off x="7048500" y="2933700"/>
            <a:ext cx="1857375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D4A843"/>
                </a:solidFill>
                <a:latin typeface="QuattrocentoSans"/>
                <a:ea typeface="MiSans"/>
              </a:rPr>
              <a:t>LaTeX / PDF</a:t>
            </a:r>
          </a:p>
        </p:txBody>
      </p:sp>
      <p:sp>
        <p:nvSpPr>
          <p:cNvPr id="41" name="dsl:export-card3-desc"/>
          <p:cNvSpPr txBox="1"/>
          <p:nvPr/>
        </p:nvSpPr>
        <p:spPr>
          <a:xfrm>
            <a:off x="6667500" y="3286125"/>
            <a:ext cx="2190750" cy="476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4A6D8C"/>
                </a:solidFill>
                <a:latin typeface="QuattrocentoSans"/>
                <a:ea typeface="MiSans"/>
              </a:rPr>
              <a:t>预留接口，支持未来扩展学术排版</a:t>
            </a:r>
          </a:p>
        </p:txBody>
      </p:sp>
      <p:sp>
        <p:nvSpPr>
          <p:cNvPr id="42" name="dsl:export-card4-bg"/>
          <p:cNvSpPr/>
          <p:nvPr/>
        </p:nvSpPr>
        <p:spPr>
          <a:xfrm>
            <a:off x="9239250" y="2809875"/>
            <a:ext cx="2571750" cy="1047750"/>
          </a:xfrm>
          <a:prstGeom prst="roundRect">
            <a:avLst>
              <a:gd name="adj" fmla="val 8000"/>
            </a:avLst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dsl:export-card4-icon|i=fas:sliders" descr="tmpg5kvrv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9750" y="2952750"/>
            <a:ext cx="266700" cy="266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44" name="dsl:export-card4-title"/>
          <p:cNvSpPr txBox="1"/>
          <p:nvPr/>
        </p:nvSpPr>
        <p:spPr>
          <a:xfrm>
            <a:off x="9810750" y="2933700"/>
            <a:ext cx="1857375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D4A843"/>
                </a:solidFill>
                <a:latin typeface="QuattrocentoSans"/>
                <a:ea typeface="MiSans"/>
              </a:rPr>
              <a:t>样式覆盖</a:t>
            </a:r>
          </a:p>
        </p:txBody>
      </p:sp>
      <p:sp>
        <p:nvSpPr>
          <p:cNvPr id="45" name="dsl:export-card4-desc"/>
          <p:cNvSpPr txBox="1"/>
          <p:nvPr/>
        </p:nvSpPr>
        <p:spPr>
          <a:xfrm>
            <a:off x="9429750" y="3286125"/>
            <a:ext cx="2190750" cy="476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4A6D8C"/>
                </a:solidFill>
                <a:latin typeface="QuattrocentoSans"/>
                <a:ea typeface="MiSans"/>
              </a:rPr>
              <a:t>支持自定义字体、行距等样式参数</a:t>
            </a:r>
          </a:p>
        </p:txBody>
      </p:sp>
      <p:sp>
        <p:nvSpPr>
          <p:cNvPr id="46" name="dsl:page-num|s=$caption"/>
          <p:cNvSpPr txBox="1"/>
          <p:nvPr/>
        </p:nvSpPr>
        <p:spPr>
          <a:xfrm>
            <a:off x="11239500" y="6477000"/>
            <a:ext cx="5715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4A6D8C"/>
                </a:solidFill>
                <a:latin typeface="QuattrocentoSans"/>
                <a:ea typeface="MiSan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g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ch1"/>
          <p:cNvSpPr txBox="1"/>
          <p:nvPr/>
        </p:nvSpPr>
        <p:spPr>
          <a:xfrm>
            <a:off x="0" y="0"/>
            <a:ext cx="3048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FFFFFF">
                    <a:alpha val="50196"/>
                  </a:srgbClr>
                </a:solidFill>
                <a:latin typeface="QuattrocentoSans"/>
                <a:ea typeface="MiSans"/>
              </a:rPr>
              <a:t>01 项目背景与目标</a:t>
            </a:r>
          </a:p>
        </p:txBody>
      </p:sp>
      <p:sp>
        <p:nvSpPr>
          <p:cNvPr id="4" name="dsl:nav-ch2"/>
          <p:cNvSpPr txBox="1"/>
          <p:nvPr/>
        </p:nvSpPr>
        <p:spPr>
          <a:xfrm>
            <a:off x="3048000" y="0"/>
            <a:ext cx="3048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FFFFFF"/>
                </a:solidFill>
                <a:latin typeface="QuattrocentoSans"/>
                <a:ea typeface="MiSans"/>
              </a:rPr>
              <a:t>02 系统架构与核心功能</a:t>
            </a:r>
          </a:p>
        </p:txBody>
      </p:sp>
      <p:sp>
        <p:nvSpPr>
          <p:cNvPr id="5" name="dsl:nav-ch3"/>
          <p:cNvSpPr txBox="1"/>
          <p:nvPr/>
        </p:nvSpPr>
        <p:spPr>
          <a:xfrm>
            <a:off x="6096000" y="0"/>
            <a:ext cx="3048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FFFFFF">
                    <a:alpha val="50196"/>
                  </a:srgbClr>
                </a:solidFill>
                <a:latin typeface="QuattrocentoSans"/>
                <a:ea typeface="MiSans"/>
              </a:rPr>
              <a:t>03 技术亮点与实现</a:t>
            </a:r>
          </a:p>
        </p:txBody>
      </p:sp>
      <p:sp>
        <p:nvSpPr>
          <p:cNvPr id="6" name="dsl:nav-ch4"/>
          <p:cNvSpPr txBox="1"/>
          <p:nvPr/>
        </p:nvSpPr>
        <p:spPr>
          <a:xfrm>
            <a:off x="9144000" y="0"/>
            <a:ext cx="3048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FFFFFF">
                    <a:alpha val="50196"/>
                  </a:srgbClr>
                </a:solidFill>
                <a:latin typeface="QuattrocentoSans"/>
                <a:ea typeface="MiSans"/>
              </a:rPr>
              <a:t>04 项目成果与展望</a:t>
            </a:r>
          </a:p>
        </p:txBody>
      </p:sp>
      <p:cxnSp>
        <p:nvCxnSpPr>
          <p:cNvPr id="7" name="dsl:nav-indicator"/>
          <p:cNvCxnSpPr/>
          <p:nvPr/>
        </p:nvCxnSpPr>
        <p:spPr>
          <a:xfrm>
            <a:off x="3048000" y="381000"/>
            <a:ext cx="3048000" cy="0"/>
          </a:xfrm>
          <a:prstGeom prst="straightConnector1">
            <a:avLst/>
          </a:prstGeom>
          <a:ln w="38100">
            <a:solidFill>
              <a:srgbClr val="D4A84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sl:page-title|s=$heading"/>
          <p:cNvSpPr txBox="1"/>
          <p:nvPr/>
        </p:nvSpPr>
        <p:spPr>
          <a:xfrm>
            <a:off x="571500" y="523875"/>
            <a:ext cx="571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250" noProof="1">
                <a:solidFill>
                  <a:srgbClr val="1B3A5F"/>
                </a:solidFill>
                <a:latin typeface="QuattrocentoSans"/>
                <a:ea typeface="MiSans"/>
              </a:rPr>
              <a:t>核心功能：选题分析与文献服务</a:t>
            </a:r>
          </a:p>
        </p:txBody>
      </p:sp>
      <p:sp>
        <p:nvSpPr>
          <p:cNvPr id="9" name="dsl:title-bar"/>
          <p:cNvSpPr/>
          <p:nvPr/>
        </p:nvSpPr>
        <p:spPr>
          <a:xfrm>
            <a:off x="571500" y="952500"/>
            <a:ext cx="476250" cy="38100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topic-card-bg"/>
          <p:cNvSpPr/>
          <p:nvPr/>
        </p:nvSpPr>
        <p:spPr>
          <a:xfrm>
            <a:off x="571500" y="1143000"/>
            <a:ext cx="5334000" cy="2476500"/>
          </a:xfrm>
          <a:prstGeom prst="roundRect">
            <a:avLst>
              <a:gd name="adj" fmla="val 6000"/>
            </a:avLst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dsl:topic-icon|i=fas:compass" descr="tmpuyg8uy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1333500"/>
            <a:ext cx="266700" cy="266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2" name="dsl:topic-title|s=$subheading"/>
          <p:cNvSpPr txBox="1"/>
          <p:nvPr/>
        </p:nvSpPr>
        <p:spPr>
          <a:xfrm>
            <a:off x="1190625" y="1314450"/>
            <a:ext cx="23812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noProof="1">
                <a:solidFill>
                  <a:srgbClr val="1B3A5F"/>
                </a:solidFill>
                <a:latin typeface="QuattrocentoSans"/>
                <a:ea typeface="MiSans"/>
              </a:rPr>
              <a:t>AI 选题推荐</a:t>
            </a:r>
          </a:p>
        </p:txBody>
      </p:sp>
      <p:sp>
        <p:nvSpPr>
          <p:cNvPr id="13" name="dsl:topic-content|s=$body"/>
          <p:cNvSpPr txBox="1"/>
          <p:nvPr/>
        </p:nvSpPr>
        <p:spPr>
          <a:xfrm>
            <a:off x="809625" y="1714500"/>
            <a:ext cx="4857750" cy="17621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sz="1200" noProof="1">
                <a:solidFill>
                  <a:srgbClr val="1A1A2E"/>
                </a:solidFill>
                <a:latin typeface="QuattrocentoSans"/>
                <a:ea typeface="MiSans"/>
              </a:rPr>
              <a:t>• 输入学科领域，AI 推荐有价值、可操作的选题</a:t>
            </a:r>
          </a:p>
          <a:p>
            <a:pPr algn="l">
              <a:lnSpc>
                <a:spcPct val="170000"/>
              </a:lnSpc>
            </a:pPr>
            <a:r>
              <a:rPr sz="1200" noProof="1">
                <a:solidFill>
                  <a:srgbClr val="1A1A2E"/>
                </a:solidFill>
                <a:latin typeface="QuattrocentoSans"/>
                <a:ea typeface="MiSans"/>
              </a:rPr>
              <a:t>• 附带可视化分析：研究热度、创新度、数据可得性、实践价值、方法成熟度</a:t>
            </a:r>
          </a:p>
          <a:p>
            <a:pPr algn="l">
              <a:lnSpc>
                <a:spcPct val="170000"/>
              </a:lnSpc>
            </a:pPr>
            <a:r>
              <a:rPr sz="1200" noProof="1">
                <a:solidFill>
                  <a:srgbClr val="1A1A2E"/>
                </a:solidFill>
                <a:latin typeface="QuattrocentoSans"/>
                <a:ea typeface="MiSans"/>
              </a:rPr>
              <a:t>• 生成关键词聚类、学科分布、热门趋势数据</a:t>
            </a:r>
          </a:p>
          <a:p>
            <a:pPr algn="l">
              <a:lnSpc>
                <a:spcPct val="170000"/>
              </a:lnSpc>
            </a:pPr>
            <a:r>
              <a:rPr sz="1200" noProof="1">
                <a:solidFill>
                  <a:srgbClr val="1A1A2E"/>
                </a:solidFill>
                <a:latin typeface="QuattrocentoSans"/>
                <a:ea typeface="MiSans"/>
              </a:rPr>
              <a:t>• 支持多选题对比雷达图</a:t>
            </a:r>
          </a:p>
        </p:txBody>
      </p:sp>
      <p:sp>
        <p:nvSpPr>
          <p:cNvPr id="14" name="dsl:lit-card-bg"/>
          <p:cNvSpPr/>
          <p:nvPr/>
        </p:nvSpPr>
        <p:spPr>
          <a:xfrm>
            <a:off x="571500" y="3810000"/>
            <a:ext cx="5334000" cy="2476500"/>
          </a:xfrm>
          <a:prstGeom prst="roundRect">
            <a:avLst>
              <a:gd name="adj" fmla="val 6000"/>
            </a:avLst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dsl:lit-icon|i=fas:book-open" descr="tmpg5kvrv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4000500"/>
            <a:ext cx="266700" cy="266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6" name="dsl:lit-title|s=$subheading"/>
          <p:cNvSpPr txBox="1"/>
          <p:nvPr/>
        </p:nvSpPr>
        <p:spPr>
          <a:xfrm>
            <a:off x="1190625" y="3981450"/>
            <a:ext cx="23812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noProof="1">
                <a:solidFill>
                  <a:srgbClr val="1B3A5F"/>
                </a:solidFill>
                <a:latin typeface="QuattrocentoSans"/>
                <a:ea typeface="MiSans"/>
              </a:rPr>
              <a:t>文献服务</a:t>
            </a:r>
          </a:p>
        </p:txBody>
      </p:sp>
      <p:sp>
        <p:nvSpPr>
          <p:cNvPr id="17" name="dsl:lit-content|s=$body"/>
          <p:cNvSpPr txBox="1"/>
          <p:nvPr/>
        </p:nvSpPr>
        <p:spPr>
          <a:xfrm>
            <a:off x="809625" y="4381500"/>
            <a:ext cx="4857750" cy="17621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sz="1200" noProof="1">
                <a:solidFill>
                  <a:srgbClr val="1A1A2E"/>
                </a:solidFill>
                <a:latin typeface="QuattrocentoSans"/>
                <a:ea typeface="MiSans"/>
              </a:rPr>
              <a:t>• Semantic Scholar 文献搜索，获取真实论文数据</a:t>
            </a:r>
          </a:p>
          <a:p>
            <a:pPr algn="l">
              <a:lnSpc>
                <a:spcPct val="170000"/>
              </a:lnSpc>
            </a:pPr>
            <a:r>
              <a:rPr sz="1200" noProof="1">
                <a:solidFill>
                  <a:srgbClr val="1A1A2E"/>
                </a:solidFill>
                <a:latin typeface="QuattrocentoSans"/>
                <a:ea typeface="MiSans"/>
              </a:rPr>
              <a:t>• 自动生成文献综述，整合研究脉络</a:t>
            </a:r>
          </a:p>
          <a:p>
            <a:pPr algn="l">
              <a:lnSpc>
                <a:spcPct val="170000"/>
              </a:lnSpc>
            </a:pPr>
            <a:r>
              <a:rPr sz="1200" noProof="1">
                <a:solidFill>
                  <a:srgbClr val="1A1A2E"/>
                </a:solidFill>
                <a:latin typeface="QuattrocentoSans"/>
                <a:ea typeface="MiSans"/>
              </a:rPr>
              <a:t>• 一键生成开题报告：背景、目的、方法、进度</a:t>
            </a:r>
          </a:p>
          <a:p>
            <a:pPr algn="l">
              <a:lnSpc>
                <a:spcPct val="170000"/>
              </a:lnSpc>
            </a:pPr>
            <a:r>
              <a:rPr sz="1200" noProof="1">
                <a:solidFill>
                  <a:srgbClr val="1A1A2E"/>
                </a:solidFill>
                <a:latin typeface="QuattrocentoSans"/>
                <a:ea typeface="MiSans"/>
              </a:rPr>
              <a:t>• 引文分析、高引论文排行</a:t>
            </a:r>
          </a:p>
        </p:txBody>
      </p:sp>
      <p:sp>
        <p:nvSpPr>
          <p:cNvPr id="18" name="dsl:right-chart-title|s=$subheading"/>
          <p:cNvSpPr txBox="1"/>
          <p:nvPr/>
        </p:nvSpPr>
        <p:spPr>
          <a:xfrm>
            <a:off x="6286500" y="1143000"/>
            <a:ext cx="2857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350" noProof="1">
                <a:solidFill>
                  <a:srgbClr val="1B3A5F"/>
                </a:solidFill>
                <a:latin typeface="QuattrocentoSans"/>
                <a:ea typeface="MiSans"/>
              </a:rPr>
              <a:t>选题评估维度</a:t>
            </a:r>
          </a:p>
        </p:txBody>
      </p:sp>
      <p:graphicFrame>
        <p:nvGraphicFramePr>
          <p:cNvPr id="19" name="dsl:radar-chart"/>
          <p:cNvGraphicFramePr>
            <a:graphicFrameLocks noGrp="1"/>
          </p:cNvGraphicFramePr>
          <p:nvPr/>
        </p:nvGraphicFramePr>
        <p:xfrm>
          <a:off x="6286500" y="1524000"/>
          <a:ext cx="5334000" cy="2667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0" name="dsl:right-flow-title|s=$subheading"/>
          <p:cNvSpPr txBox="1"/>
          <p:nvPr/>
        </p:nvSpPr>
        <p:spPr>
          <a:xfrm>
            <a:off x="6286500" y="4381500"/>
            <a:ext cx="2857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350" noProof="1">
                <a:solidFill>
                  <a:srgbClr val="1B3A5F"/>
                </a:solidFill>
                <a:latin typeface="QuattrocentoSans"/>
                <a:ea typeface="MiSans"/>
              </a:rPr>
              <a:t>服务流程</a:t>
            </a:r>
          </a:p>
        </p:txBody>
      </p:sp>
      <p:sp>
        <p:nvSpPr>
          <p:cNvPr id="21" name="dsl:right-flow|s=$body"/>
          <p:cNvSpPr txBox="1"/>
          <p:nvPr/>
        </p:nvSpPr>
        <p:spPr>
          <a:xfrm>
            <a:off x="6286500" y="4762500"/>
            <a:ext cx="5334000" cy="1428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1A1A2E"/>
                </a:solidFill>
                <a:latin typeface="QuattrocentoSans"/>
                <a:ea typeface="MiSans"/>
              </a:rPr>
              <a:t>① 输入学科领域 → ② AI 推荐选题 → ③ 文献检索 → ④ 生成综述</a:t>
            </a:r>
          </a:p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1A1A2E"/>
                </a:solidFill>
                <a:latin typeface="QuattrocentoSans"/>
                <a:ea typeface="MiSans"/>
              </a:rPr>
              <a:t>→ ⑤ 生成开题报告 → ⑥ 论文生成 → ⑦ 排版导出</a:t>
            </a:r>
          </a:p>
        </p:txBody>
      </p:sp>
      <p:sp>
        <p:nvSpPr>
          <p:cNvPr id="22" name="dsl:page-num|s=$caption"/>
          <p:cNvSpPr txBox="1"/>
          <p:nvPr/>
        </p:nvSpPr>
        <p:spPr>
          <a:xfrm>
            <a:off x="11239500" y="6477000"/>
            <a:ext cx="5715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4A6D8C"/>
                </a:solidFill>
                <a:latin typeface="QuattrocentoSans"/>
                <a:ea typeface="MiSan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g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ch1"/>
          <p:cNvSpPr txBox="1"/>
          <p:nvPr/>
        </p:nvSpPr>
        <p:spPr>
          <a:xfrm>
            <a:off x="0" y="0"/>
            <a:ext cx="3048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FFFFFF">
                    <a:alpha val="50196"/>
                  </a:srgbClr>
                </a:solidFill>
                <a:latin typeface="QuattrocentoSans"/>
                <a:ea typeface="MiSans"/>
              </a:rPr>
              <a:t>01 项目背景与目标</a:t>
            </a:r>
          </a:p>
        </p:txBody>
      </p:sp>
      <p:sp>
        <p:nvSpPr>
          <p:cNvPr id="4" name="dsl:nav-ch2"/>
          <p:cNvSpPr txBox="1"/>
          <p:nvPr/>
        </p:nvSpPr>
        <p:spPr>
          <a:xfrm>
            <a:off x="3048000" y="0"/>
            <a:ext cx="3048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FFFFFF"/>
                </a:solidFill>
                <a:latin typeface="QuattrocentoSans"/>
                <a:ea typeface="MiSans"/>
              </a:rPr>
              <a:t>02 系统架构与核心功能</a:t>
            </a:r>
          </a:p>
        </p:txBody>
      </p:sp>
      <p:sp>
        <p:nvSpPr>
          <p:cNvPr id="5" name="dsl:nav-ch3"/>
          <p:cNvSpPr txBox="1"/>
          <p:nvPr/>
        </p:nvSpPr>
        <p:spPr>
          <a:xfrm>
            <a:off x="6096000" y="0"/>
            <a:ext cx="3048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FFFFFF">
                    <a:alpha val="50196"/>
                  </a:srgbClr>
                </a:solidFill>
                <a:latin typeface="QuattrocentoSans"/>
                <a:ea typeface="MiSans"/>
              </a:rPr>
              <a:t>03 技术亮点与实现</a:t>
            </a:r>
          </a:p>
        </p:txBody>
      </p:sp>
      <p:sp>
        <p:nvSpPr>
          <p:cNvPr id="6" name="dsl:nav-ch4"/>
          <p:cNvSpPr txBox="1"/>
          <p:nvPr/>
        </p:nvSpPr>
        <p:spPr>
          <a:xfrm>
            <a:off x="9144000" y="0"/>
            <a:ext cx="3048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FFFFFF">
                    <a:alpha val="50196"/>
                  </a:srgbClr>
                </a:solidFill>
                <a:latin typeface="QuattrocentoSans"/>
                <a:ea typeface="MiSans"/>
              </a:rPr>
              <a:t>04 项目成果与展望</a:t>
            </a:r>
          </a:p>
        </p:txBody>
      </p:sp>
      <p:cxnSp>
        <p:nvCxnSpPr>
          <p:cNvPr id="7" name="dsl:nav-indicator"/>
          <p:cNvCxnSpPr/>
          <p:nvPr/>
        </p:nvCxnSpPr>
        <p:spPr>
          <a:xfrm>
            <a:off x="3048000" y="381000"/>
            <a:ext cx="3048000" cy="0"/>
          </a:xfrm>
          <a:prstGeom prst="straightConnector1">
            <a:avLst/>
          </a:prstGeom>
          <a:ln w="38100">
            <a:solidFill>
              <a:srgbClr val="D4A84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sl:page-title|s=$heading"/>
          <p:cNvSpPr txBox="1"/>
          <p:nvPr/>
        </p:nvSpPr>
        <p:spPr>
          <a:xfrm>
            <a:off x="571500" y="523875"/>
            <a:ext cx="66675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250" noProof="1">
                <a:solidFill>
                  <a:srgbClr val="1B3A5F"/>
                </a:solidFill>
                <a:latin typeface="QuattrocentoSans"/>
                <a:ea typeface="MiSans"/>
              </a:rPr>
              <a:t>核心功能：查重降重与可视化分析</a:t>
            </a:r>
          </a:p>
        </p:txBody>
      </p:sp>
      <p:sp>
        <p:nvSpPr>
          <p:cNvPr id="9" name="dsl:title-bar"/>
          <p:cNvSpPr/>
          <p:nvPr/>
        </p:nvSpPr>
        <p:spPr>
          <a:xfrm>
            <a:off x="571500" y="952500"/>
            <a:ext cx="476250" cy="38100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plag-left-bg"/>
          <p:cNvSpPr/>
          <p:nvPr/>
        </p:nvSpPr>
        <p:spPr>
          <a:xfrm>
            <a:off x="571500" y="1143000"/>
            <a:ext cx="5429250" cy="2857500"/>
          </a:xfrm>
          <a:prstGeom prst="roundRect">
            <a:avLst>
              <a:gd name="adj" fmla="val 6000"/>
            </a:avLst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dsl:plag-icon|i=fas:magnifying-glass-chart" descr="tmpuyg8uy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1333500"/>
            <a:ext cx="266700" cy="266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2" name="dsl:plag-title|s=$subheading"/>
          <p:cNvSpPr txBox="1"/>
          <p:nvPr/>
        </p:nvSpPr>
        <p:spPr>
          <a:xfrm>
            <a:off x="1190625" y="1314450"/>
            <a:ext cx="23812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noProof="1">
                <a:solidFill>
                  <a:srgbClr val="1B3A5F"/>
                </a:solidFill>
                <a:latin typeface="QuattrocentoSans"/>
                <a:ea typeface="MiSans"/>
              </a:rPr>
              <a:t>查重与降重</a:t>
            </a:r>
          </a:p>
        </p:txBody>
      </p:sp>
      <p:sp>
        <p:nvSpPr>
          <p:cNvPr id="13" name="dsl:plag-content|s=$body"/>
          <p:cNvSpPr txBox="1"/>
          <p:nvPr/>
        </p:nvSpPr>
        <p:spPr>
          <a:xfrm>
            <a:off x="809625" y="1714500"/>
            <a:ext cx="4953000" cy="2095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200" noProof="1">
                <a:solidFill>
                  <a:srgbClr val="1A1A2E"/>
                </a:solidFill>
                <a:latin typeface="QuattrocentoSans"/>
                <a:ea typeface="MiSans"/>
              </a:rPr>
              <a:t>查重分析</a:t>
            </a:r>
          </a:p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1A1A2E"/>
                </a:solidFill>
                <a:latin typeface="QuattrocentoSans"/>
                <a:ea typeface="MiSans"/>
              </a:rPr>
              <a:t>• AI 评估文本原创性，识别潜在重复风险</a:t>
            </a:r>
          </a:p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1A1A2E"/>
                </a:solidFill>
                <a:latin typeface="QuattrocentoSans"/>
                <a:ea typeface="MiSans"/>
              </a:rPr>
              <a:t>• 给出原创性评分与改进建议</a:t>
            </a:r>
          </a:p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1A1A2E"/>
                </a:solidFill>
                <a:latin typeface="QuattrocentoSans"/>
                <a:ea typeface="MiSans"/>
              </a:rPr>
              <a:t> </a:t>
            </a:r>
          </a:p>
          <a:p>
            <a:pPr algn="l">
              <a:lnSpc>
                <a:spcPct val="150000"/>
              </a:lnSpc>
            </a:pPr>
            <a:r>
              <a:rPr b="1" sz="1200" noProof="1">
                <a:solidFill>
                  <a:srgbClr val="1A1A2E"/>
                </a:solidFill>
                <a:latin typeface="QuattrocentoSans"/>
                <a:ea typeface="MiSans"/>
              </a:rPr>
              <a:t>智能降重</a:t>
            </a:r>
          </a:p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1A1A2E"/>
                </a:solidFill>
                <a:latin typeface="QuattrocentoSans"/>
                <a:ea typeface="MiSans"/>
              </a:rPr>
              <a:t>• 同义替换、句式重组、语序调整</a:t>
            </a:r>
          </a:p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1A1A2E"/>
                </a:solidFill>
                <a:latin typeface="QuattrocentoSans"/>
                <a:ea typeface="MiSans"/>
              </a:rPr>
              <a:t>• 保持学术语义不变，降低相似度</a:t>
            </a:r>
          </a:p>
        </p:txBody>
      </p:sp>
      <p:sp>
        <p:nvSpPr>
          <p:cNvPr id="14" name="dsl:vis-right-bg"/>
          <p:cNvSpPr/>
          <p:nvPr/>
        </p:nvSpPr>
        <p:spPr>
          <a:xfrm>
            <a:off x="571500" y="4191000"/>
            <a:ext cx="5429250" cy="2476500"/>
          </a:xfrm>
          <a:prstGeom prst="roundRect">
            <a:avLst>
              <a:gd name="adj" fmla="val 6000"/>
            </a:avLst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dsl:vis-icon|i=fas:chart-column" descr="tmpg5kvrv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4381500"/>
            <a:ext cx="266700" cy="266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6" name="dsl:vis-title|s=$subheading"/>
          <p:cNvSpPr txBox="1"/>
          <p:nvPr/>
        </p:nvSpPr>
        <p:spPr>
          <a:xfrm>
            <a:off x="1190625" y="4362450"/>
            <a:ext cx="23812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noProof="1">
                <a:solidFill>
                  <a:srgbClr val="1B3A5F"/>
                </a:solidFill>
                <a:latin typeface="QuattrocentoSans"/>
                <a:ea typeface="MiSans"/>
              </a:rPr>
              <a:t>学术配图生成</a:t>
            </a:r>
          </a:p>
        </p:txBody>
      </p:sp>
      <p:sp>
        <p:nvSpPr>
          <p:cNvPr id="17" name="dsl:vis-content|s=$body"/>
          <p:cNvSpPr txBox="1"/>
          <p:nvPr/>
        </p:nvSpPr>
        <p:spPr>
          <a:xfrm>
            <a:off x="809625" y="4762500"/>
            <a:ext cx="4953000" cy="1714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sz="1200" noProof="1">
                <a:solidFill>
                  <a:srgbClr val="1A1A2E"/>
                </a:solidFill>
                <a:latin typeface="QuattrocentoSans"/>
                <a:ea typeface="MiSans"/>
              </a:rPr>
              <a:t>• AI 根据论文内容自动生成学术图表</a:t>
            </a:r>
          </a:p>
          <a:p>
            <a:pPr algn="l">
              <a:lnSpc>
                <a:spcPct val="170000"/>
              </a:lnSpc>
            </a:pPr>
            <a:r>
              <a:rPr sz="1200" noProof="1">
                <a:solidFill>
                  <a:srgbClr val="1A1A2E"/>
                </a:solidFill>
                <a:latin typeface="QuattrocentoSans"/>
                <a:ea typeface="MiSans"/>
              </a:rPr>
              <a:t>• 支持柱状图、折线图、饼图、散点图、流程图</a:t>
            </a:r>
          </a:p>
          <a:p>
            <a:pPr algn="l">
              <a:lnSpc>
                <a:spcPct val="170000"/>
              </a:lnSpc>
            </a:pPr>
            <a:r>
              <a:rPr sz="1200" noProof="1">
                <a:solidFill>
                  <a:srgbClr val="1A1A2E"/>
                </a:solidFill>
                <a:latin typeface="QuattrocentoSans"/>
                <a:ea typeface="MiSans"/>
              </a:rPr>
              <a:t>• 数据表格自动生成与格式化</a:t>
            </a:r>
          </a:p>
          <a:p>
            <a:pPr algn="l">
              <a:lnSpc>
                <a:spcPct val="170000"/>
              </a:lnSpc>
            </a:pPr>
            <a:r>
              <a:rPr sz="1200" noProof="1">
                <a:solidFill>
                  <a:srgbClr val="1A1A2E"/>
                </a:solidFill>
                <a:latin typeface="QuattrocentoSans"/>
                <a:ea typeface="MiSans"/>
              </a:rPr>
              <a:t>• 图表配色符合学术规范，可直接插入论文</a:t>
            </a:r>
          </a:p>
        </p:txBody>
      </p:sp>
      <p:sp>
        <p:nvSpPr>
          <p:cNvPr id="18" name="dsl:analysis-title|s=$subheading"/>
          <p:cNvSpPr txBox="1"/>
          <p:nvPr/>
        </p:nvSpPr>
        <p:spPr>
          <a:xfrm>
            <a:off x="6286500" y="1143000"/>
            <a:ext cx="2857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noProof="1">
                <a:solidFill>
                  <a:srgbClr val="1B3A5F"/>
                </a:solidFill>
                <a:latin typeface="QuattrocentoSans"/>
                <a:ea typeface="MiSans"/>
              </a:rPr>
              <a:t>可视化分析能力</a:t>
            </a:r>
          </a:p>
        </p:txBody>
      </p:sp>
      <p:sp>
        <p:nvSpPr>
          <p:cNvPr id="19" name="dsl:analysis-list|s=$body"/>
          <p:cNvSpPr txBox="1"/>
          <p:nvPr/>
        </p:nvSpPr>
        <p:spPr>
          <a:xfrm>
            <a:off x="6286500" y="1571625"/>
            <a:ext cx="5334000" cy="2238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80000"/>
              </a:lnSpc>
            </a:pPr>
            <a:r>
              <a:rPr b="1" sz="1200" noProof="1">
                <a:solidFill>
                  <a:srgbClr val="1A1A2E"/>
                </a:solidFill>
                <a:latin typeface="QuattrocentoSans"/>
                <a:ea typeface="MiSans"/>
              </a:rPr>
              <a:t>词云分析</a:t>
            </a:r>
            <a:r>
              <a:rPr sz="1200" noProof="1">
                <a:solidFill>
                  <a:srgbClr val="1A1A2E"/>
                </a:solidFill>
                <a:latin typeface="QuattrocentoSans"/>
                <a:ea typeface="MiSans"/>
              </a:rPr>
              <a:t> — 领域高频关键词可视化</a:t>
            </a:r>
          </a:p>
          <a:p>
            <a:pPr algn="l">
              <a:lnSpc>
                <a:spcPct val="180000"/>
              </a:lnSpc>
            </a:pPr>
            <a:r>
              <a:rPr b="1" sz="1200" noProof="1">
                <a:solidFill>
                  <a:srgbClr val="1A1A2E"/>
                </a:solidFill>
                <a:latin typeface="QuattrocentoSans"/>
                <a:ea typeface="MiSans"/>
              </a:rPr>
              <a:t>引文分析</a:t>
            </a:r>
            <a:r>
              <a:rPr sz="1200" noProof="1">
                <a:solidFill>
                  <a:srgbClr val="1A1A2E"/>
                </a:solidFill>
                <a:latin typeface="QuattrocentoSans"/>
                <a:ea typeface="MiSans"/>
              </a:rPr>
              <a:t> — 高引论文排行与年份分布</a:t>
            </a:r>
          </a:p>
          <a:p>
            <a:pPr algn="l">
              <a:lnSpc>
                <a:spcPct val="180000"/>
              </a:lnSpc>
            </a:pPr>
            <a:r>
              <a:rPr b="1" sz="1200" noProof="1">
                <a:solidFill>
                  <a:srgbClr val="1A1A2E"/>
                </a:solidFill>
                <a:latin typeface="QuattrocentoSans"/>
                <a:ea typeface="MiSans"/>
              </a:rPr>
              <a:t>关键词网络</a:t>
            </a:r>
            <a:r>
              <a:rPr sz="1200" noProof="1">
                <a:solidFill>
                  <a:srgbClr val="1A1A2E"/>
                </a:solidFill>
                <a:latin typeface="QuattrocentoSans"/>
                <a:ea typeface="MiSans"/>
              </a:rPr>
              <a:t> — 共现关联网络图</a:t>
            </a:r>
          </a:p>
          <a:p>
            <a:pPr algn="l">
              <a:lnSpc>
                <a:spcPct val="180000"/>
              </a:lnSpc>
            </a:pPr>
            <a:r>
              <a:rPr b="1" sz="1200" noProof="1">
                <a:solidFill>
                  <a:srgbClr val="1A1A2E"/>
                </a:solidFill>
                <a:latin typeface="QuattrocentoSans"/>
                <a:ea typeface="MiSans"/>
              </a:rPr>
              <a:t>研究热点</a:t>
            </a:r>
            <a:r>
              <a:rPr sz="1200" noProof="1">
                <a:solidFill>
                  <a:srgbClr val="1A1A2E"/>
                </a:solidFill>
                <a:latin typeface="QuattrocentoSans"/>
                <a:ea typeface="MiSans"/>
              </a:rPr>
              <a:t> — 年度演化趋势追踪</a:t>
            </a:r>
          </a:p>
          <a:p>
            <a:pPr algn="l">
              <a:lnSpc>
                <a:spcPct val="180000"/>
              </a:lnSpc>
            </a:pPr>
            <a:r>
              <a:rPr b="1" sz="1200" noProof="1">
                <a:solidFill>
                  <a:srgbClr val="1A1A2E"/>
                </a:solidFill>
                <a:latin typeface="QuattrocentoSans"/>
                <a:ea typeface="MiSans"/>
              </a:rPr>
              <a:t>选题趋势</a:t>
            </a:r>
            <a:r>
              <a:rPr sz="1200" noProof="1">
                <a:solidFill>
                  <a:srgbClr val="1A1A2E"/>
                </a:solidFill>
                <a:latin typeface="QuattrocentoSans"/>
                <a:ea typeface="MiSans"/>
              </a:rPr>
              <a:t> — 发文量年度趋势曲线</a:t>
            </a:r>
          </a:p>
          <a:p>
            <a:pPr algn="l">
              <a:lnSpc>
                <a:spcPct val="180000"/>
              </a:lnSpc>
            </a:pPr>
            <a:r>
              <a:rPr b="1" sz="1200" noProof="1">
                <a:solidFill>
                  <a:srgbClr val="1A1A2E"/>
                </a:solidFill>
                <a:latin typeface="QuattrocentoSans"/>
                <a:ea typeface="MiSans"/>
              </a:rPr>
              <a:t>对比雷达</a:t>
            </a:r>
            <a:r>
              <a:rPr sz="1200" noProof="1">
                <a:solidFill>
                  <a:srgbClr val="1A1A2E"/>
                </a:solidFill>
                <a:latin typeface="QuattrocentoSans"/>
                <a:ea typeface="MiSans"/>
              </a:rPr>
              <a:t> — 多选题多维度对比</a:t>
            </a:r>
          </a:p>
        </p:txBody>
      </p:sp>
      <p:graphicFrame>
        <p:nvGraphicFramePr>
          <p:cNvPr id="20" name="dsl:chart-demo"/>
          <p:cNvGraphicFramePr>
            <a:graphicFrameLocks noGrp="1"/>
          </p:cNvGraphicFramePr>
          <p:nvPr/>
        </p:nvGraphicFramePr>
        <p:xfrm>
          <a:off x="6286500" y="4000500"/>
          <a:ext cx="5334000" cy="228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1" name="dsl:page-num|s=$caption"/>
          <p:cNvSpPr txBox="1"/>
          <p:nvPr/>
        </p:nvSpPr>
        <p:spPr>
          <a:xfrm>
            <a:off x="11239500" y="6477000"/>
            <a:ext cx="5715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4A6D8C"/>
                </a:solidFill>
                <a:latin typeface="QuattrocentoSans"/>
                <a:ea typeface="MiSan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g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ch1"/>
          <p:cNvSpPr txBox="1"/>
          <p:nvPr/>
        </p:nvSpPr>
        <p:spPr>
          <a:xfrm>
            <a:off x="0" y="0"/>
            <a:ext cx="3048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FFFFFF">
                    <a:alpha val="50196"/>
                  </a:srgbClr>
                </a:solidFill>
                <a:latin typeface="QuattrocentoSans"/>
                <a:ea typeface="MiSans"/>
              </a:rPr>
              <a:t>01 项目背景与目标</a:t>
            </a:r>
          </a:p>
        </p:txBody>
      </p:sp>
      <p:sp>
        <p:nvSpPr>
          <p:cNvPr id="4" name="dsl:nav-ch2"/>
          <p:cNvSpPr txBox="1"/>
          <p:nvPr/>
        </p:nvSpPr>
        <p:spPr>
          <a:xfrm>
            <a:off x="3048000" y="0"/>
            <a:ext cx="3048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FFFFFF">
                    <a:alpha val="50196"/>
                  </a:srgbClr>
                </a:solidFill>
                <a:latin typeface="QuattrocentoSans"/>
                <a:ea typeface="MiSans"/>
              </a:rPr>
              <a:t>02 系统架构与核心功能</a:t>
            </a:r>
          </a:p>
        </p:txBody>
      </p:sp>
      <p:sp>
        <p:nvSpPr>
          <p:cNvPr id="5" name="dsl:nav-ch3"/>
          <p:cNvSpPr txBox="1"/>
          <p:nvPr/>
        </p:nvSpPr>
        <p:spPr>
          <a:xfrm>
            <a:off x="6096000" y="0"/>
            <a:ext cx="3048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FFFFFF"/>
                </a:solidFill>
                <a:latin typeface="QuattrocentoSans"/>
                <a:ea typeface="MiSans"/>
              </a:rPr>
              <a:t>03 技术亮点与实现</a:t>
            </a:r>
          </a:p>
        </p:txBody>
      </p:sp>
      <p:sp>
        <p:nvSpPr>
          <p:cNvPr id="6" name="dsl:nav-ch4"/>
          <p:cNvSpPr txBox="1"/>
          <p:nvPr/>
        </p:nvSpPr>
        <p:spPr>
          <a:xfrm>
            <a:off x="9144000" y="0"/>
            <a:ext cx="3048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FFFFFF">
                    <a:alpha val="50196"/>
                  </a:srgbClr>
                </a:solidFill>
                <a:latin typeface="QuattrocentoSans"/>
                <a:ea typeface="MiSans"/>
              </a:rPr>
              <a:t>04 项目成果与展望</a:t>
            </a:r>
          </a:p>
        </p:txBody>
      </p:sp>
      <p:cxnSp>
        <p:nvCxnSpPr>
          <p:cNvPr id="7" name="dsl:nav-indicator"/>
          <p:cNvCxnSpPr/>
          <p:nvPr/>
        </p:nvCxnSpPr>
        <p:spPr>
          <a:xfrm>
            <a:off x="6096000" y="381000"/>
            <a:ext cx="3048000" cy="0"/>
          </a:xfrm>
          <a:prstGeom prst="straightConnector1">
            <a:avLst/>
          </a:prstGeom>
          <a:ln w="38100">
            <a:solidFill>
              <a:srgbClr val="D4A84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sl:page-title|s=$heading"/>
          <p:cNvSpPr txBox="1"/>
          <p:nvPr/>
        </p:nvSpPr>
        <p:spPr>
          <a:xfrm>
            <a:off x="571500" y="523875"/>
            <a:ext cx="3810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250" noProof="1">
                <a:solidFill>
                  <a:srgbClr val="1B3A5F"/>
                </a:solidFill>
                <a:latin typeface="QuattrocentoSans"/>
                <a:ea typeface="MiSans"/>
              </a:rPr>
              <a:t>技术亮点</a:t>
            </a:r>
          </a:p>
        </p:txBody>
      </p:sp>
      <p:sp>
        <p:nvSpPr>
          <p:cNvPr id="9" name="dsl:title-bar"/>
          <p:cNvSpPr/>
          <p:nvPr/>
        </p:nvSpPr>
        <p:spPr>
          <a:xfrm>
            <a:off x="571500" y="952500"/>
            <a:ext cx="476250" cy="38100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num1-bg"/>
          <p:cNvSpPr/>
          <p:nvPr/>
        </p:nvSpPr>
        <p:spPr>
          <a:xfrm>
            <a:off x="571500" y="1238250"/>
            <a:ext cx="419100" cy="419100"/>
          </a:xfrm>
          <a:prstGeom prst="ellipse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num1-text"/>
          <p:cNvSpPr txBox="1"/>
          <p:nvPr/>
        </p:nvSpPr>
        <p:spPr>
          <a:xfrm>
            <a:off x="571500" y="1238250"/>
            <a:ext cx="419100" cy="4191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350" noProof="1">
                <a:solidFill>
                  <a:srgbClr val="FFFFFF"/>
                </a:solidFill>
                <a:latin typeface="QuattrocentoSans"/>
                <a:ea typeface="MiSans"/>
              </a:rPr>
              <a:t>1</a:t>
            </a:r>
          </a:p>
        </p:txBody>
      </p:sp>
      <p:sp>
        <p:nvSpPr>
          <p:cNvPr id="12" name="dsl:item1-title|s=$subheading"/>
          <p:cNvSpPr txBox="1"/>
          <p:nvPr/>
        </p:nvSpPr>
        <p:spPr>
          <a:xfrm>
            <a:off x="1143000" y="1238250"/>
            <a:ext cx="4762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noProof="1">
                <a:solidFill>
                  <a:srgbClr val="1B3A5F"/>
                </a:solidFill>
                <a:latin typeface="QuattrocentoSans"/>
                <a:ea typeface="MiSans"/>
              </a:rPr>
              <a:t>DeepSeek v4 推理模型</a:t>
            </a:r>
          </a:p>
        </p:txBody>
      </p:sp>
      <p:sp>
        <p:nvSpPr>
          <p:cNvPr id="13" name="dsl:item1-desc|s=$body"/>
          <p:cNvSpPr txBox="1"/>
          <p:nvPr/>
        </p:nvSpPr>
        <p:spPr>
          <a:xfrm>
            <a:off x="1143000" y="1571625"/>
            <a:ext cx="10477500" cy="381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1A1A2E"/>
                </a:solidFill>
                <a:latin typeface="QuattrocentoSans"/>
                <a:ea typeface="MiSans"/>
              </a:rPr>
              <a:t>基于 DeepSeek v4-flash 推理模型，具备强大的链式思考与长文本生成能力，支持 8K 输出上下文。</a:t>
            </a:r>
          </a:p>
        </p:txBody>
      </p:sp>
      <p:sp>
        <p:nvSpPr>
          <p:cNvPr id="14" name="dsl:num2-bg"/>
          <p:cNvSpPr/>
          <p:nvPr/>
        </p:nvSpPr>
        <p:spPr>
          <a:xfrm>
            <a:off x="571500" y="2143125"/>
            <a:ext cx="419100" cy="419100"/>
          </a:xfrm>
          <a:prstGeom prst="ellipse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num2-text"/>
          <p:cNvSpPr txBox="1"/>
          <p:nvPr/>
        </p:nvSpPr>
        <p:spPr>
          <a:xfrm>
            <a:off x="571500" y="2143125"/>
            <a:ext cx="419100" cy="4191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350" noProof="1">
                <a:solidFill>
                  <a:srgbClr val="FFFFFF"/>
                </a:solidFill>
                <a:latin typeface="QuattrocentoSans"/>
                <a:ea typeface="MiSans"/>
              </a:rPr>
              <a:t>2</a:t>
            </a:r>
          </a:p>
        </p:txBody>
      </p:sp>
      <p:sp>
        <p:nvSpPr>
          <p:cNvPr id="16" name="dsl:item2-title|s=$subheading"/>
          <p:cNvSpPr txBox="1"/>
          <p:nvPr/>
        </p:nvSpPr>
        <p:spPr>
          <a:xfrm>
            <a:off x="1143000" y="2143125"/>
            <a:ext cx="4762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noProof="1">
                <a:solidFill>
                  <a:srgbClr val="1B3A5F"/>
                </a:solidFill>
                <a:latin typeface="QuattrocentoSans"/>
                <a:ea typeface="MiSans"/>
              </a:rPr>
              <a:t>结构化 Prompt 工程</a:t>
            </a:r>
          </a:p>
        </p:txBody>
      </p:sp>
      <p:sp>
        <p:nvSpPr>
          <p:cNvPr id="17" name="dsl:item2-desc|s=$body"/>
          <p:cNvSpPr txBox="1"/>
          <p:nvPr/>
        </p:nvSpPr>
        <p:spPr>
          <a:xfrm>
            <a:off x="1143000" y="2476500"/>
            <a:ext cx="10477500" cy="381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1A1A2E"/>
                </a:solidFill>
                <a:latin typeface="QuattrocentoSans"/>
                <a:ea typeface="MiSans"/>
              </a:rPr>
              <a:t>精心设计 System Prompt + JSON 格式化指令，确保输出结构一致、内容高质量、可直接解析。</a:t>
            </a:r>
          </a:p>
        </p:txBody>
      </p:sp>
      <p:sp>
        <p:nvSpPr>
          <p:cNvPr id="18" name="dsl:num3-bg"/>
          <p:cNvSpPr/>
          <p:nvPr/>
        </p:nvSpPr>
        <p:spPr>
          <a:xfrm>
            <a:off x="571500" y="3048000"/>
            <a:ext cx="419100" cy="419100"/>
          </a:xfrm>
          <a:prstGeom prst="ellipse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l:num3-text"/>
          <p:cNvSpPr txBox="1"/>
          <p:nvPr/>
        </p:nvSpPr>
        <p:spPr>
          <a:xfrm>
            <a:off x="571500" y="3048000"/>
            <a:ext cx="419100" cy="4191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350" noProof="1">
                <a:solidFill>
                  <a:srgbClr val="FFFFFF"/>
                </a:solidFill>
                <a:latin typeface="QuattrocentoSans"/>
                <a:ea typeface="MiSans"/>
              </a:rPr>
              <a:t>3</a:t>
            </a:r>
          </a:p>
        </p:txBody>
      </p:sp>
      <p:sp>
        <p:nvSpPr>
          <p:cNvPr id="20" name="dsl:item3-title|s=$subheading"/>
          <p:cNvSpPr txBox="1"/>
          <p:nvPr/>
        </p:nvSpPr>
        <p:spPr>
          <a:xfrm>
            <a:off x="1143000" y="3048000"/>
            <a:ext cx="4762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noProof="1">
                <a:solidFill>
                  <a:srgbClr val="D4A843"/>
                </a:solidFill>
                <a:latin typeface="QuattrocentoSans"/>
                <a:ea typeface="MiSans"/>
              </a:rPr>
              <a:t>多层 JSON 容错解析</a:t>
            </a:r>
          </a:p>
        </p:txBody>
      </p:sp>
      <p:sp>
        <p:nvSpPr>
          <p:cNvPr id="21" name="dsl:item3-desc|s=$body"/>
          <p:cNvSpPr txBox="1"/>
          <p:nvPr/>
        </p:nvSpPr>
        <p:spPr>
          <a:xfrm>
            <a:off x="1143000" y="3381375"/>
            <a:ext cx="10477500" cy="381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1A1A2E"/>
                </a:solidFill>
                <a:latin typeface="QuattrocentoSans"/>
                <a:ea typeface="MiSans"/>
              </a:rPr>
              <a:t>四层容错策略：直接解析 → 转义修复 → 正则提取 → 截断修复，覆盖 LLM 输出常见异常。</a:t>
            </a:r>
          </a:p>
        </p:txBody>
      </p:sp>
      <p:sp>
        <p:nvSpPr>
          <p:cNvPr id="22" name="dsl:num4-bg"/>
          <p:cNvSpPr/>
          <p:nvPr/>
        </p:nvSpPr>
        <p:spPr>
          <a:xfrm>
            <a:off x="571500" y="3952875"/>
            <a:ext cx="419100" cy="419100"/>
          </a:xfrm>
          <a:prstGeom prst="ellipse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l:num4-text"/>
          <p:cNvSpPr txBox="1"/>
          <p:nvPr/>
        </p:nvSpPr>
        <p:spPr>
          <a:xfrm>
            <a:off x="571500" y="3952875"/>
            <a:ext cx="419100" cy="4191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350" noProof="1">
                <a:solidFill>
                  <a:srgbClr val="FFFFFF"/>
                </a:solidFill>
                <a:latin typeface="QuattrocentoSans"/>
                <a:ea typeface="MiSans"/>
              </a:rPr>
              <a:t>4</a:t>
            </a:r>
          </a:p>
        </p:txBody>
      </p:sp>
      <p:sp>
        <p:nvSpPr>
          <p:cNvPr id="24" name="dsl:item4-title|s=$subheading"/>
          <p:cNvSpPr txBox="1"/>
          <p:nvPr/>
        </p:nvSpPr>
        <p:spPr>
          <a:xfrm>
            <a:off x="1143000" y="3952875"/>
            <a:ext cx="4762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noProof="1">
                <a:solidFill>
                  <a:srgbClr val="D4A843"/>
                </a:solidFill>
                <a:latin typeface="QuattrocentoSans"/>
                <a:ea typeface="MiSans"/>
              </a:rPr>
              <a:t>模块化引擎架构</a:t>
            </a:r>
          </a:p>
        </p:txBody>
      </p:sp>
      <p:sp>
        <p:nvSpPr>
          <p:cNvPr id="25" name="dsl:item4-desc|s=$body"/>
          <p:cNvSpPr txBox="1"/>
          <p:nvPr/>
        </p:nvSpPr>
        <p:spPr>
          <a:xfrm>
            <a:off x="1143000" y="4286250"/>
            <a:ext cx="10477500" cy="381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1A1A2E"/>
                </a:solidFill>
                <a:latin typeface="QuattrocentoSans"/>
                <a:ea typeface="MiSans"/>
              </a:rPr>
              <a:t>10+ 独立引擎设计，职责清晰，耦合度低，便于后续扩展新功能（如 LaTeX 导出、PDF 生成）。</a:t>
            </a:r>
          </a:p>
        </p:txBody>
      </p:sp>
      <p:sp>
        <p:nvSpPr>
          <p:cNvPr id="26" name="dsl:num5-bg"/>
          <p:cNvSpPr/>
          <p:nvPr/>
        </p:nvSpPr>
        <p:spPr>
          <a:xfrm>
            <a:off x="571500" y="4857750"/>
            <a:ext cx="419100" cy="419100"/>
          </a:xfrm>
          <a:prstGeom prst="ellipse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sl:num5-text"/>
          <p:cNvSpPr txBox="1"/>
          <p:nvPr/>
        </p:nvSpPr>
        <p:spPr>
          <a:xfrm>
            <a:off x="571500" y="4857750"/>
            <a:ext cx="419100" cy="4191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350" noProof="1">
                <a:solidFill>
                  <a:srgbClr val="FFFFFF"/>
                </a:solidFill>
                <a:latin typeface="QuattrocentoSans"/>
                <a:ea typeface="MiSans"/>
              </a:rPr>
              <a:t>5</a:t>
            </a:r>
          </a:p>
        </p:txBody>
      </p:sp>
      <p:sp>
        <p:nvSpPr>
          <p:cNvPr id="28" name="dsl:item5-title|s=$subheading"/>
          <p:cNvSpPr txBox="1"/>
          <p:nvPr/>
        </p:nvSpPr>
        <p:spPr>
          <a:xfrm>
            <a:off x="1143000" y="4857750"/>
            <a:ext cx="4762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noProof="1">
                <a:solidFill>
                  <a:srgbClr val="1B3A5F"/>
                </a:solidFill>
                <a:latin typeface="QuattrocentoSans"/>
                <a:ea typeface="MiSans"/>
              </a:rPr>
              <a:t>学术模板体系</a:t>
            </a:r>
          </a:p>
        </p:txBody>
      </p:sp>
      <p:sp>
        <p:nvSpPr>
          <p:cNvPr id="29" name="dsl:item5-desc|s=$body"/>
          <p:cNvSpPr txBox="1"/>
          <p:nvPr/>
        </p:nvSpPr>
        <p:spPr>
          <a:xfrm>
            <a:off x="1143000" y="5191125"/>
            <a:ext cx="10477500" cy="381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1A1A2E"/>
                </a:solidFill>
                <a:latin typeface="QuattrocentoSans"/>
                <a:ea typeface="MiSans"/>
              </a:rPr>
              <a:t>JSON 化模板配置，支持 GB/T 7713、IEEE、ACM 等标准，轻松扩展新的学术格式规范。</a:t>
            </a:r>
          </a:p>
        </p:txBody>
      </p:sp>
      <p:sp>
        <p:nvSpPr>
          <p:cNvPr id="30" name="dsl:page-num|s=$caption"/>
          <p:cNvSpPr txBox="1"/>
          <p:nvPr/>
        </p:nvSpPr>
        <p:spPr>
          <a:xfrm>
            <a:off x="11239500" y="6477000"/>
            <a:ext cx="5715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4A6D8C"/>
                </a:solidFill>
                <a:latin typeface="QuattrocentoSans"/>
                <a:ea typeface="Mi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g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ch1"/>
          <p:cNvSpPr txBox="1"/>
          <p:nvPr/>
        </p:nvSpPr>
        <p:spPr>
          <a:xfrm>
            <a:off x="0" y="0"/>
            <a:ext cx="3048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FFFFFF">
                    <a:alpha val="50196"/>
                  </a:srgbClr>
                </a:solidFill>
                <a:latin typeface="QuattrocentoSans"/>
                <a:ea typeface="MiSans"/>
              </a:rPr>
              <a:t>01 项目背景与目标</a:t>
            </a:r>
          </a:p>
        </p:txBody>
      </p:sp>
      <p:sp>
        <p:nvSpPr>
          <p:cNvPr id="4" name="dsl:nav-ch2"/>
          <p:cNvSpPr txBox="1"/>
          <p:nvPr/>
        </p:nvSpPr>
        <p:spPr>
          <a:xfrm>
            <a:off x="3048000" y="0"/>
            <a:ext cx="3048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FFFFFF">
                    <a:alpha val="50196"/>
                  </a:srgbClr>
                </a:solidFill>
                <a:latin typeface="QuattrocentoSans"/>
                <a:ea typeface="MiSans"/>
              </a:rPr>
              <a:t>02 系统架构与核心功能</a:t>
            </a:r>
          </a:p>
        </p:txBody>
      </p:sp>
      <p:sp>
        <p:nvSpPr>
          <p:cNvPr id="5" name="dsl:nav-ch3"/>
          <p:cNvSpPr txBox="1"/>
          <p:nvPr/>
        </p:nvSpPr>
        <p:spPr>
          <a:xfrm>
            <a:off x="6096000" y="0"/>
            <a:ext cx="3048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FFFFFF">
                    <a:alpha val="50196"/>
                  </a:srgbClr>
                </a:solidFill>
                <a:latin typeface="QuattrocentoSans"/>
                <a:ea typeface="MiSans"/>
              </a:rPr>
              <a:t>03 技术亮点与实现</a:t>
            </a:r>
          </a:p>
        </p:txBody>
      </p:sp>
      <p:sp>
        <p:nvSpPr>
          <p:cNvPr id="6" name="dsl:nav-ch4"/>
          <p:cNvSpPr txBox="1"/>
          <p:nvPr/>
        </p:nvSpPr>
        <p:spPr>
          <a:xfrm>
            <a:off x="9144000" y="0"/>
            <a:ext cx="3048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FFFFFF"/>
                </a:solidFill>
                <a:latin typeface="QuattrocentoSans"/>
                <a:ea typeface="MiSans"/>
              </a:rPr>
              <a:t>04 项目成果与展望</a:t>
            </a:r>
          </a:p>
        </p:txBody>
      </p:sp>
      <p:cxnSp>
        <p:nvCxnSpPr>
          <p:cNvPr id="7" name="dsl:nav-indicator"/>
          <p:cNvCxnSpPr/>
          <p:nvPr/>
        </p:nvCxnSpPr>
        <p:spPr>
          <a:xfrm>
            <a:off x="9144000" y="381000"/>
            <a:ext cx="3048000" cy="0"/>
          </a:xfrm>
          <a:prstGeom prst="straightConnector1">
            <a:avLst/>
          </a:prstGeom>
          <a:ln w="38100">
            <a:solidFill>
              <a:srgbClr val="D4A84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sl:page-title|s=$heading"/>
          <p:cNvSpPr txBox="1"/>
          <p:nvPr/>
        </p:nvSpPr>
        <p:spPr>
          <a:xfrm>
            <a:off x="571500" y="523875"/>
            <a:ext cx="47625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250" noProof="1">
                <a:solidFill>
                  <a:srgbClr val="1B3A5F"/>
                </a:solidFill>
                <a:latin typeface="QuattrocentoSans"/>
                <a:ea typeface="MiSans"/>
              </a:rPr>
              <a:t>项目成果与 API 概览</a:t>
            </a:r>
          </a:p>
        </p:txBody>
      </p:sp>
      <p:sp>
        <p:nvSpPr>
          <p:cNvPr id="9" name="dsl:title-bar"/>
          <p:cNvSpPr/>
          <p:nvPr/>
        </p:nvSpPr>
        <p:spPr>
          <a:xfrm>
            <a:off x="571500" y="952500"/>
            <a:ext cx="476250" cy="38100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dsl:api-table"/>
          <p:cNvGraphicFramePr>
            <a:graphicFrameLocks noGrp="1"/>
          </p:cNvGraphicFramePr>
          <p:nvPr/>
        </p:nvGraphicFramePr>
        <p:xfrm>
          <a:off x="571500" y="1190625"/>
          <a:ext cx="6667500" cy="4000494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000125"/>
                <a:gridCol w="1666875"/>
                <a:gridCol w="3000375"/>
                <a:gridCol w="1000125"/>
              </a:tblGrid>
              <a:tr h="32004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方法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1B3A5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路径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1B3A5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说明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1B3A5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75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状态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1B3A5F"/>
                    </a:solidFill>
                  </a:tcPr>
                </a:tc>
              </a:tr>
              <a:tr h="308038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POST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/api/generate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生成论文初稿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✅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8038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POST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/api/polish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文本润色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✅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E8EEF4"/>
                    </a:solidFill>
                  </a:tcPr>
                </a:tc>
              </a:tr>
              <a:tr h="308038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POST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/api/revise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多轮对话修改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✅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8038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GET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/api/export/{id}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导出 Word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✅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E8EEF4"/>
                    </a:solidFill>
                  </a:tcPr>
                </a:tc>
              </a:tr>
              <a:tr h="308038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POST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/api/format/pipeline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统一排版管道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✅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8038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POST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/api/topic/recommend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选题推荐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✅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E8EEF4"/>
                    </a:solidFill>
                  </a:tcPr>
                </a:tc>
              </a:tr>
              <a:tr h="308038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POST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/api/literature/search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文献搜索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✅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8038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POST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/api/proposal/generate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开题报告生成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✅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E8EEF4"/>
                    </a:solidFill>
                  </a:tcPr>
                </a:tc>
              </a:tr>
              <a:tr h="308038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POST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/api/plagiarism/analyze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查重分析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✅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8038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POST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/api/chart/generate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学术配图生成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✅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E8EEF4"/>
                    </a:solidFill>
                  </a:tcPr>
                </a:tc>
              </a:tr>
              <a:tr h="300037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POST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/api/visual/hotspots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研究热点可视化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✅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0037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GET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/api/health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健康检查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900" noProof="1">
                          <a:solidFill>
                            <a:srgbClr val="1A1A2E"/>
                          </a:solidFill>
                          <a:latin typeface="QuattrocentoSans"/>
                          <a:ea typeface="MiSans"/>
                        </a:rPr>
                        <a:t>✅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D9E0"/>
                      </a:solidFill>
                      <a:prstDash val="soli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</a:lnB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  <p:sp>
        <p:nvSpPr>
          <p:cNvPr id="11" name="dsl:right-title|s=$subheading"/>
          <p:cNvSpPr txBox="1"/>
          <p:nvPr/>
        </p:nvSpPr>
        <p:spPr>
          <a:xfrm>
            <a:off x="7620000" y="1190625"/>
            <a:ext cx="2857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noProof="1">
                <a:solidFill>
                  <a:srgbClr val="1B3A5F"/>
                </a:solidFill>
                <a:latin typeface="QuattrocentoSans"/>
                <a:ea typeface="MiSans"/>
              </a:rPr>
              <a:t>前端界面</a:t>
            </a:r>
          </a:p>
        </p:txBody>
      </p:sp>
      <p:sp>
        <p:nvSpPr>
          <p:cNvPr id="12" name="dsl:right-content|s=$body"/>
          <p:cNvSpPr txBox="1"/>
          <p:nvPr/>
        </p:nvSpPr>
        <p:spPr>
          <a:xfrm>
            <a:off x="7620000" y="1619250"/>
            <a:ext cx="4000500" cy="2667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1A1A2E"/>
                </a:solidFill>
                <a:latin typeface="QuattrocentoSans"/>
                <a:ea typeface="MiSans"/>
              </a:rPr>
              <a:t>• React 18 + TypeScript 构建</a:t>
            </a:r>
          </a:p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1A1A2E"/>
                </a:solidFill>
                <a:latin typeface="QuattrocentoSans"/>
                <a:ea typeface="MiSans"/>
              </a:rPr>
              <a:t>• Tailwind CSS 响应式布局</a:t>
            </a:r>
          </a:p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1A1A2E"/>
                </a:solidFill>
                <a:latin typeface="QuattrocentoSans"/>
                <a:ea typeface="MiSans"/>
              </a:rPr>
              <a:t>• 分章节卡片式论文预览</a:t>
            </a:r>
          </a:p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1A1A2E"/>
                </a:solidFill>
                <a:latin typeface="QuattrocentoSans"/>
                <a:ea typeface="MiSans"/>
              </a:rPr>
              <a:t>• 润色结果对比展示</a:t>
            </a:r>
          </a:p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1A1A2E"/>
                </a:solidFill>
                <a:latin typeface="QuattrocentoSans"/>
                <a:ea typeface="MiSans"/>
              </a:rPr>
              <a:t>• 一键导出与下载</a:t>
            </a:r>
          </a:p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1A1A2E"/>
                </a:solidFill>
                <a:latin typeface="QuattrocentoSans"/>
                <a:ea typeface="MiSans"/>
              </a:rPr>
              <a:t>• 实时状态反馈与加载提示</a:t>
            </a:r>
          </a:p>
        </p:txBody>
      </p:sp>
      <p:sp>
        <p:nvSpPr>
          <p:cNvPr id="13" name="dsl:right-metric-title|s=$subheading"/>
          <p:cNvSpPr txBox="1"/>
          <p:nvPr/>
        </p:nvSpPr>
        <p:spPr>
          <a:xfrm>
            <a:off x="7620000" y="4476750"/>
            <a:ext cx="2857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noProof="1">
                <a:solidFill>
                  <a:srgbClr val="1B3A5F"/>
                </a:solidFill>
                <a:latin typeface="QuattrocentoSans"/>
                <a:ea typeface="MiSans"/>
              </a:rPr>
              <a:t>系统指标</a:t>
            </a:r>
          </a:p>
        </p:txBody>
      </p:sp>
      <p:sp>
        <p:nvSpPr>
          <p:cNvPr id="14" name="dsl:metric1-num"/>
          <p:cNvSpPr txBox="1"/>
          <p:nvPr/>
        </p:nvSpPr>
        <p:spPr>
          <a:xfrm>
            <a:off x="7620000" y="4905375"/>
            <a:ext cx="1143000" cy="4286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2400" noProof="1">
                <a:solidFill>
                  <a:srgbClr val="1B3A5F"/>
                </a:solidFill>
                <a:latin typeface="QuattrocentoSans"/>
                <a:ea typeface="MiSans"/>
              </a:rPr>
              <a:t>20+</a:t>
            </a:r>
          </a:p>
        </p:txBody>
      </p:sp>
      <p:sp>
        <p:nvSpPr>
          <p:cNvPr id="15" name="dsl:metric1-label"/>
          <p:cNvSpPr txBox="1"/>
          <p:nvPr/>
        </p:nvSpPr>
        <p:spPr>
          <a:xfrm>
            <a:off x="7620000" y="5381625"/>
            <a:ext cx="11430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4A6D8C"/>
                </a:solidFill>
                <a:latin typeface="QuattrocentoSans"/>
                <a:ea typeface="MiSans"/>
              </a:rPr>
              <a:t>API 接口</a:t>
            </a:r>
          </a:p>
        </p:txBody>
      </p:sp>
      <p:sp>
        <p:nvSpPr>
          <p:cNvPr id="16" name="dsl:metric2-num"/>
          <p:cNvSpPr txBox="1"/>
          <p:nvPr/>
        </p:nvSpPr>
        <p:spPr>
          <a:xfrm>
            <a:off x="9048750" y="4905375"/>
            <a:ext cx="1143000" cy="4286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2400" noProof="1">
                <a:solidFill>
                  <a:srgbClr val="D4A843"/>
                </a:solidFill>
                <a:latin typeface="QuattrocentoSans"/>
                <a:ea typeface="MiSans"/>
              </a:rPr>
              <a:t>10+</a:t>
            </a:r>
          </a:p>
        </p:txBody>
      </p:sp>
      <p:sp>
        <p:nvSpPr>
          <p:cNvPr id="17" name="dsl:metric2-label"/>
          <p:cNvSpPr txBox="1"/>
          <p:nvPr/>
        </p:nvSpPr>
        <p:spPr>
          <a:xfrm>
            <a:off x="9048750" y="5381625"/>
            <a:ext cx="11430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4A6D8C"/>
                </a:solidFill>
                <a:latin typeface="QuattrocentoSans"/>
                <a:ea typeface="MiSans"/>
              </a:rPr>
              <a:t>独立引擎</a:t>
            </a:r>
          </a:p>
        </p:txBody>
      </p:sp>
      <p:sp>
        <p:nvSpPr>
          <p:cNvPr id="18" name="dsl:metric3-num"/>
          <p:cNvSpPr txBox="1"/>
          <p:nvPr/>
        </p:nvSpPr>
        <p:spPr>
          <a:xfrm>
            <a:off x="10477500" y="4905375"/>
            <a:ext cx="1143000" cy="4286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2400" noProof="1">
                <a:solidFill>
                  <a:srgbClr val="1B3A5F"/>
                </a:solidFill>
                <a:latin typeface="QuattrocentoSans"/>
                <a:ea typeface="MiSans"/>
              </a:rPr>
              <a:t>5+</a:t>
            </a:r>
          </a:p>
        </p:txBody>
      </p:sp>
      <p:sp>
        <p:nvSpPr>
          <p:cNvPr id="19" name="dsl:metric3-label"/>
          <p:cNvSpPr txBox="1"/>
          <p:nvPr/>
        </p:nvSpPr>
        <p:spPr>
          <a:xfrm>
            <a:off x="10477500" y="5381625"/>
            <a:ext cx="11430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4A6D8C"/>
                </a:solidFill>
                <a:latin typeface="QuattrocentoSans"/>
                <a:ea typeface="MiSans"/>
              </a:rPr>
              <a:t>学术模板</a:t>
            </a:r>
          </a:p>
        </p:txBody>
      </p:sp>
      <p:sp>
        <p:nvSpPr>
          <p:cNvPr id="20" name="dsl:page-num|s=$caption"/>
          <p:cNvSpPr txBox="1"/>
          <p:nvPr/>
        </p:nvSpPr>
        <p:spPr>
          <a:xfrm>
            <a:off x="11239500" y="6477000"/>
            <a:ext cx="5715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4A6D8C"/>
                </a:solidFill>
                <a:latin typeface="QuattrocentoSans"/>
                <a:ea typeface="Mi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g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ch1"/>
          <p:cNvSpPr txBox="1"/>
          <p:nvPr/>
        </p:nvSpPr>
        <p:spPr>
          <a:xfrm>
            <a:off x="0" y="0"/>
            <a:ext cx="3048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FFFFFF">
                    <a:alpha val="50196"/>
                  </a:srgbClr>
                </a:solidFill>
                <a:latin typeface="QuattrocentoSans"/>
                <a:ea typeface="MiSans"/>
              </a:rPr>
              <a:t>01 项目背景与目标</a:t>
            </a:r>
          </a:p>
        </p:txBody>
      </p:sp>
      <p:sp>
        <p:nvSpPr>
          <p:cNvPr id="4" name="dsl:nav-ch2"/>
          <p:cNvSpPr txBox="1"/>
          <p:nvPr/>
        </p:nvSpPr>
        <p:spPr>
          <a:xfrm>
            <a:off x="3048000" y="0"/>
            <a:ext cx="3048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FFFFFF">
                    <a:alpha val="50196"/>
                  </a:srgbClr>
                </a:solidFill>
                <a:latin typeface="QuattrocentoSans"/>
                <a:ea typeface="MiSans"/>
              </a:rPr>
              <a:t>02 系统架构与核心功能</a:t>
            </a:r>
          </a:p>
        </p:txBody>
      </p:sp>
      <p:sp>
        <p:nvSpPr>
          <p:cNvPr id="5" name="dsl:nav-ch3"/>
          <p:cNvSpPr txBox="1"/>
          <p:nvPr/>
        </p:nvSpPr>
        <p:spPr>
          <a:xfrm>
            <a:off x="6096000" y="0"/>
            <a:ext cx="3048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FFFFFF">
                    <a:alpha val="50196"/>
                  </a:srgbClr>
                </a:solidFill>
                <a:latin typeface="QuattrocentoSans"/>
                <a:ea typeface="MiSans"/>
              </a:rPr>
              <a:t>03 技术亮点与实现</a:t>
            </a:r>
          </a:p>
        </p:txBody>
      </p:sp>
      <p:sp>
        <p:nvSpPr>
          <p:cNvPr id="6" name="dsl:nav-ch4"/>
          <p:cNvSpPr txBox="1"/>
          <p:nvPr/>
        </p:nvSpPr>
        <p:spPr>
          <a:xfrm>
            <a:off x="9144000" y="0"/>
            <a:ext cx="3048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FFFFFF"/>
                </a:solidFill>
                <a:latin typeface="QuattrocentoSans"/>
                <a:ea typeface="MiSans"/>
              </a:rPr>
              <a:t>04 项目成果与展望</a:t>
            </a:r>
          </a:p>
        </p:txBody>
      </p:sp>
      <p:cxnSp>
        <p:nvCxnSpPr>
          <p:cNvPr id="7" name="dsl:nav-indicator"/>
          <p:cNvCxnSpPr/>
          <p:nvPr/>
        </p:nvCxnSpPr>
        <p:spPr>
          <a:xfrm>
            <a:off x="9144000" y="381000"/>
            <a:ext cx="3048000" cy="0"/>
          </a:xfrm>
          <a:prstGeom prst="straightConnector1">
            <a:avLst/>
          </a:prstGeom>
          <a:ln w="38100">
            <a:solidFill>
              <a:srgbClr val="D4A84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sl:page-title|s=$heading"/>
          <p:cNvSpPr txBox="1"/>
          <p:nvPr/>
        </p:nvSpPr>
        <p:spPr>
          <a:xfrm>
            <a:off x="571500" y="523875"/>
            <a:ext cx="3810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250" noProof="1">
                <a:solidFill>
                  <a:srgbClr val="1B3A5F"/>
                </a:solidFill>
                <a:latin typeface="QuattrocentoSans"/>
                <a:ea typeface="MiSans"/>
              </a:rPr>
              <a:t>总结与展望</a:t>
            </a:r>
          </a:p>
        </p:txBody>
      </p:sp>
      <p:sp>
        <p:nvSpPr>
          <p:cNvPr id="9" name="dsl:title-bar"/>
          <p:cNvSpPr/>
          <p:nvPr/>
        </p:nvSpPr>
        <p:spPr>
          <a:xfrm>
            <a:off x="571500" y="952500"/>
            <a:ext cx="476250" cy="38100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left-title|s=$subheading"/>
          <p:cNvSpPr txBox="1"/>
          <p:nvPr/>
        </p:nvSpPr>
        <p:spPr>
          <a:xfrm>
            <a:off x="571500" y="1190625"/>
            <a:ext cx="2857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650" noProof="1">
                <a:solidFill>
                  <a:srgbClr val="1B3A5F"/>
                </a:solidFill>
                <a:latin typeface="QuattrocentoSans"/>
                <a:ea typeface="MiSans"/>
              </a:rPr>
              <a:t>项目成果</a:t>
            </a:r>
          </a:p>
        </p:txBody>
      </p:sp>
      <p:sp>
        <p:nvSpPr>
          <p:cNvPr id="11" name="dsl:left-content|s=$body"/>
          <p:cNvSpPr txBox="1"/>
          <p:nvPr/>
        </p:nvSpPr>
        <p:spPr>
          <a:xfrm>
            <a:off x="571500" y="1619250"/>
            <a:ext cx="5238750" cy="4857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A1A2E"/>
                </a:solidFill>
                <a:latin typeface="QuattrocentoSans"/>
                <a:ea typeface="MiSans"/>
              </a:rPr>
              <a:t>✅ AI 自动生成完整课程论文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A1A2E"/>
                </a:solidFill>
                <a:latin typeface="QuattrocentoSans"/>
                <a:ea typeface="MiSans"/>
              </a:rPr>
              <a:t>   （标题 + 摘要 + 正文 + 结论 + 参考文献）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A1A2E"/>
                </a:solidFill>
                <a:latin typeface="QuattrocentoSans"/>
                <a:ea typeface="MiSans"/>
              </a:rPr>
              <a:t> 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A1A2E"/>
                </a:solidFill>
                <a:latin typeface="QuattrocentoSans"/>
                <a:ea typeface="MiSans"/>
              </a:rPr>
              <a:t>✅ 四种学术润色模式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A1A2E"/>
                </a:solidFill>
                <a:latin typeface="QuattrocentoSans"/>
                <a:ea typeface="MiSans"/>
              </a:rPr>
              <a:t>   （语法修正 / 学术改写 / 内容扩展 / 文本精简）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A1A2E"/>
                </a:solidFill>
                <a:latin typeface="QuattrocentoSans"/>
                <a:ea typeface="MiSans"/>
              </a:rPr>
              <a:t> 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A1A2E"/>
                </a:solidFill>
                <a:latin typeface="QuattrocentoSans"/>
                <a:ea typeface="MiSans"/>
              </a:rPr>
              <a:t>✅ 一键导出符合规范的 Word 文档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A1A2E"/>
                </a:solidFill>
                <a:latin typeface="QuattrocentoSans"/>
                <a:ea typeface="MiSans"/>
              </a:rPr>
              <a:t>   （GB/T 7713 / IEEE / ACM 等模板）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A1A2E"/>
                </a:solidFill>
                <a:latin typeface="QuattrocentoSans"/>
                <a:ea typeface="MiSans"/>
              </a:rPr>
              <a:t> 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A1A2E"/>
                </a:solidFill>
                <a:latin typeface="QuattrocentoSans"/>
                <a:ea typeface="MiSans"/>
              </a:rPr>
              <a:t>✅ 精美前端交互界面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A1A2E"/>
                </a:solidFill>
                <a:latin typeface="QuattrocentoSans"/>
                <a:ea typeface="MiSans"/>
              </a:rPr>
              <a:t>   （分章节预览 / 润色对比 / 实时导出）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A1A2E"/>
                </a:solidFill>
                <a:latin typeface="QuattrocentoSans"/>
                <a:ea typeface="MiSans"/>
              </a:rPr>
              <a:t> 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A1A2E"/>
                </a:solidFill>
                <a:latin typeface="QuattrocentoSans"/>
                <a:ea typeface="MiSans"/>
              </a:rPr>
              <a:t>✅ 全流程学术服务</a:t>
            </a:r>
          </a:p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A1A2E"/>
                </a:solidFill>
                <a:latin typeface="QuattrocentoSans"/>
                <a:ea typeface="MiSans"/>
              </a:rPr>
              <a:t>   （选题 / 文献 / 查重 / 可视化）</a:t>
            </a:r>
          </a:p>
        </p:txBody>
      </p:sp>
      <p:sp>
        <p:nvSpPr>
          <p:cNvPr id="12" name="dsl:right-title|s=$subheading"/>
          <p:cNvSpPr txBox="1"/>
          <p:nvPr/>
        </p:nvSpPr>
        <p:spPr>
          <a:xfrm>
            <a:off x="6286500" y="1190625"/>
            <a:ext cx="2857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650" noProof="1">
                <a:solidFill>
                  <a:srgbClr val="D4A843"/>
                </a:solidFill>
                <a:latin typeface="QuattrocentoSans"/>
                <a:ea typeface="MiSans"/>
              </a:rPr>
              <a:t>未来方向</a:t>
            </a:r>
          </a:p>
        </p:txBody>
      </p:sp>
      <p:sp>
        <p:nvSpPr>
          <p:cNvPr id="13" name="dsl:right-content|s=$body"/>
          <p:cNvSpPr txBox="1"/>
          <p:nvPr/>
        </p:nvSpPr>
        <p:spPr>
          <a:xfrm>
            <a:off x="6286500" y="1619250"/>
            <a:ext cx="5334000" cy="4381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80000"/>
              </a:lnSpc>
            </a:pPr>
            <a:r>
              <a:rPr sz="1350" noProof="1">
                <a:solidFill>
                  <a:srgbClr val="1A1A2E"/>
                </a:solidFill>
                <a:latin typeface="QuattrocentoSans"/>
                <a:ea typeface="MiSans"/>
              </a:rPr>
              <a:t>▸ 支持 LaTeX 和 PDF 导出</a:t>
            </a:r>
          </a:p>
          <a:p>
            <a:pPr algn="l">
              <a:lnSpc>
                <a:spcPct val="180000"/>
              </a:lnSpc>
            </a:pPr>
            <a:r>
              <a:rPr sz="1350" noProof="1">
                <a:solidFill>
                  <a:srgbClr val="1A1A2E"/>
                </a:solidFill>
                <a:latin typeface="QuattrocentoSans"/>
                <a:ea typeface="MiSans"/>
              </a:rPr>
              <a:t>▸ 增加参考文献自动检索与引用</a:t>
            </a:r>
          </a:p>
          <a:p>
            <a:pPr algn="l">
              <a:lnSpc>
                <a:spcPct val="180000"/>
              </a:lnSpc>
            </a:pPr>
            <a:r>
              <a:rPr sz="1350" noProof="1">
                <a:solidFill>
                  <a:srgbClr val="1A1A2E"/>
                </a:solidFill>
                <a:latin typeface="QuattrocentoSans"/>
                <a:ea typeface="MiSans"/>
              </a:rPr>
              <a:t>▸ 接入知网 / 万方知识库</a:t>
            </a:r>
          </a:p>
          <a:p>
            <a:pPr algn="l">
              <a:lnSpc>
                <a:spcPct val="180000"/>
              </a:lnSpc>
            </a:pPr>
            <a:r>
              <a:rPr sz="1350" noProof="1">
                <a:solidFill>
                  <a:srgbClr val="1A1A2E"/>
                </a:solidFill>
                <a:latin typeface="QuattrocentoSans"/>
                <a:ea typeface="MiSans"/>
              </a:rPr>
              <a:t>▸ 支持更多国际论文模板</a:t>
            </a:r>
          </a:p>
          <a:p>
            <a:pPr algn="l">
              <a:lnSpc>
                <a:spcPct val="180000"/>
              </a:lnSpc>
            </a:pPr>
            <a:r>
              <a:rPr sz="1350" noProof="1">
                <a:solidFill>
                  <a:srgbClr val="1A1A2E"/>
                </a:solidFill>
                <a:latin typeface="QuattrocentoSans"/>
                <a:ea typeface="MiSans"/>
              </a:rPr>
              <a:t>▸ 多语言论文生成（英/日/德）</a:t>
            </a:r>
          </a:p>
          <a:p>
            <a:pPr algn="l">
              <a:lnSpc>
                <a:spcPct val="180000"/>
              </a:lnSpc>
            </a:pPr>
            <a:r>
              <a:rPr sz="1350" noProof="1">
                <a:solidFill>
                  <a:srgbClr val="1A1A2E"/>
                </a:solidFill>
                <a:latin typeface="QuattrocentoSans"/>
                <a:ea typeface="MiSans"/>
              </a:rPr>
              <a:t>▸ 学术配图与数据表格自动插入</a:t>
            </a:r>
          </a:p>
          <a:p>
            <a:pPr algn="l">
              <a:lnSpc>
                <a:spcPct val="180000"/>
              </a:lnSpc>
            </a:pPr>
            <a:r>
              <a:rPr sz="1350" noProof="1">
                <a:solidFill>
                  <a:srgbClr val="1A1A2E"/>
                </a:solidFill>
                <a:latin typeface="QuattrocentoSans"/>
                <a:ea typeface="MiSans"/>
              </a:rPr>
              <a:t>▸ 协作写作与版本控制</a:t>
            </a:r>
          </a:p>
          <a:p>
            <a:pPr algn="l">
              <a:lnSpc>
                <a:spcPct val="180000"/>
              </a:lnSpc>
            </a:pPr>
            <a:r>
              <a:rPr sz="1350" noProof="1">
                <a:solidFill>
                  <a:srgbClr val="1A1A2E"/>
                </a:solidFill>
                <a:latin typeface="QuattrocentoSans"/>
                <a:ea typeface="MiSans"/>
              </a:rPr>
              <a:t>▸ 基于 RAG 的实时知识增强</a:t>
            </a:r>
          </a:p>
        </p:txBody>
      </p:sp>
      <p:cxnSp>
        <p:nvCxnSpPr>
          <p:cNvPr id="14" name="dsl:divider-line"/>
          <p:cNvCxnSpPr/>
          <p:nvPr/>
        </p:nvCxnSpPr>
        <p:spPr>
          <a:xfrm>
            <a:off x="6000750" y="1619250"/>
            <a:ext cx="0" cy="4381500"/>
          </a:xfrm>
          <a:prstGeom prst="straightConnector1">
            <a:avLst/>
          </a:prstGeom>
          <a:ln w="12700">
            <a:solidFill>
              <a:srgbClr val="D1D9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sl:page-num|s=$caption"/>
          <p:cNvSpPr txBox="1"/>
          <p:nvPr/>
        </p:nvSpPr>
        <p:spPr>
          <a:xfrm>
            <a:off x="11239500" y="6477000"/>
            <a:ext cx="5715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4A6D8C"/>
                </a:solidFill>
                <a:latin typeface="QuattrocentoSans"/>
                <a:ea typeface="Mi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2744"/>
            </a:gs>
            <a:gs pos="100000">
              <a:srgbClr val="1B3A5F"/>
            </a:gs>
          </a:gsLst>
          <a:lin scaled="1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dsl:final-title|s=$title"/>
          <p:cNvSpPr txBox="1"/>
          <p:nvPr/>
        </p:nvSpPr>
        <p:spPr>
          <a:xfrm>
            <a:off x="2286000" y="2095500"/>
            <a:ext cx="7620000" cy="762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3900" noProof="1" spc="150">
                <a:solidFill>
                  <a:srgbClr val="FFFFFF"/>
                </a:solidFill>
                <a:latin typeface="QuattrocentoSans"/>
                <a:ea typeface="MiSans"/>
              </a:rPr>
              <a:t>感谢聆听</a:t>
            </a:r>
          </a:p>
        </p:txBody>
      </p:sp>
      <p:sp>
        <p:nvSpPr>
          <p:cNvPr id="3" name="dsl:accent-bar"/>
          <p:cNvSpPr/>
          <p:nvPr/>
        </p:nvSpPr>
        <p:spPr>
          <a:xfrm>
            <a:off x="5143500" y="3048000"/>
            <a:ext cx="1905000" cy="38100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final-subtitle|s=$subtitle"/>
          <p:cNvSpPr txBox="1"/>
          <p:nvPr/>
        </p:nvSpPr>
        <p:spPr>
          <a:xfrm>
            <a:off x="2286000" y="3333750"/>
            <a:ext cx="762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650" noProof="1">
                <a:solidFill>
                  <a:srgbClr val="FFFFFF"/>
                </a:solidFill>
                <a:latin typeface="QuattrocentoSans"/>
                <a:ea typeface="MiSans"/>
              </a:rPr>
              <a:t>课程论文智能写作与润色系统</a:t>
            </a:r>
          </a:p>
        </p:txBody>
      </p:sp>
      <p:sp>
        <p:nvSpPr>
          <p:cNvPr id="5" name="dsl:final-desc|s=$caption"/>
          <p:cNvSpPr txBox="1"/>
          <p:nvPr/>
        </p:nvSpPr>
        <p:spPr>
          <a:xfrm>
            <a:off x="2762250" y="3905250"/>
            <a:ext cx="6667500" cy="571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60000"/>
              </a:lnSpc>
            </a:pPr>
            <a:r>
              <a:rPr sz="1200" noProof="1">
                <a:solidFill>
                  <a:srgbClr val="FFFFFF">
                    <a:alpha val="66666"/>
                  </a:srgbClr>
                </a:solidFill>
                <a:latin typeface="QuattrocentoSans"/>
                <a:ea typeface="MiSans"/>
              </a:rPr>
              <a:t>基于 DeepSeek 大模型的 AI 论文辅助写作平台</a:t>
            </a:r>
          </a:p>
          <a:p>
            <a:pPr algn="ctr">
              <a:lnSpc>
                <a:spcPct val="160000"/>
              </a:lnSpc>
            </a:pPr>
            <a:r>
              <a:rPr sz="1200" noProof="1">
                <a:solidFill>
                  <a:srgbClr val="FFFFFF">
                    <a:alpha val="66666"/>
                  </a:srgbClr>
                </a:solidFill>
                <a:latin typeface="QuattrocentoSans"/>
                <a:ea typeface="MiSans"/>
              </a:rPr>
              <a:t>React + FastAPI + DeepSeek v4 + python-docx</a:t>
            </a:r>
          </a:p>
        </p:txBody>
      </p:sp>
      <p:sp>
        <p:nvSpPr>
          <p:cNvPr id="6" name="dsl:final-welcome"/>
          <p:cNvSpPr txBox="1"/>
          <p:nvPr/>
        </p:nvSpPr>
        <p:spPr>
          <a:xfrm>
            <a:off x="4191000" y="4762500"/>
            <a:ext cx="381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350" noProof="1">
                <a:solidFill>
                  <a:srgbClr val="D4A843"/>
                </a:solidFill>
                <a:latin typeface="QuattrocentoSans"/>
                <a:ea typeface="MiSans"/>
              </a:rPr>
              <a:t>欢迎提问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DslMetadata>
  <Colors>
    <Color name="primary" value="#1B3A5F"/>
    <Color name="secondary" value="#4A6D8C"/>
    <Color name="accent" value="#D4A843"/>
    <Color name="background" value="#F5F7FA"/>
    <Color name="text" value="#1A1A2E"/>
    <Color name="light" value="#E8EEF4"/>
    <Color name="white" value="#FFFFFF"/>
    <Color name="divider" value="#D1D9E0"/>
  </Colors>
  <TextStyles>
    <TextStyle name="title" font_size="44.0" color="$white" font_family="QuattrocentoSans, MiSans" line_height="1.2" letter_spacing="2.0"/>
    <TextStyle name="subtitle" font_size="20.0" color="$secondary" font_family="QuattrocentoSans, MiSans" line_height="1.4"/>
    <TextStyle name="heading" font_size="30.0" color="$primary" font_family="QuattrocentoSans, MiSans" line_height="1.3"/>
    <TextStyle name="subheading" font_size="22.0" color="$primary" font_family="QuattrocentoSans, MiSans" line_height="1.3"/>
    <TextStyle name="body" font_size="18.0" color="$text" font_family="QuattrocentoSans, MiSans" line_height="1.6"/>
    <TextStyle name="caption" font_size="14.0" color="$secondary" font_family="QuattrocentoSans, MiSans" line_height="1.4"/>
  </TextStyles>
  <TableStyles>
    <TableStyle name="default" fontSize="16.0" fontFamily="QuattrocentoSans, MiSans" headerFill="$primary" headerColor="$white" headerBold="true" bodyFill="$white,$light" bodyColor="$text" firstColumnBold="false">
      <Border style="solid" width="1.0" color="$divider"/>
    </TableStyle>
  </TableStyles>
</DslMetadata>
</file>

<file path=customXml/itemProps1.xml><?xml version="1.0" encoding="utf-8"?>
<ns0:datastoreItem xmlns:ns0="http://schemas.openxmlformats.org/officeDocument/2006/customXml" ns0:itemID="{4B1CCF7E-3DD3-4B67-9AD1-07F3AFC115A0}">
  <ns0:schemaRefs/>
</ns0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